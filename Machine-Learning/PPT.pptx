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63" r:id="rId5"/>
    <p:sldId id="264" r:id="rId6"/>
    <p:sldId id="265" r:id="rId7"/>
    <p:sldId id="281" r:id="rId8"/>
    <p:sldId id="266" r:id="rId9"/>
    <p:sldId id="259" r:id="rId10"/>
    <p:sldId id="287" r:id="rId11"/>
    <p:sldId id="267" r:id="rId12"/>
    <p:sldId id="272" r:id="rId13"/>
    <p:sldId id="273" r:id="rId14"/>
    <p:sldId id="274" r:id="rId15"/>
    <p:sldId id="275" r:id="rId16"/>
    <p:sldId id="277" r:id="rId17"/>
    <p:sldId id="276" r:id="rId18"/>
    <p:sldId id="285" r:id="rId19"/>
    <p:sldId id="286" r:id="rId20"/>
    <p:sldId id="282" r:id="rId21"/>
    <p:sldId id="283" r:id="rId22"/>
    <p:sldId id="284" r:id="rId23"/>
    <p:sldId id="271" r:id="rId24"/>
    <p:sldId id="280" r:id="rId25"/>
    <p:sldId id="260" r:id="rId26"/>
    <p:sldId id="288"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427157-E4B6-42E9-BBB7-C13A98BB12BA}" v="8" dt="2025-10-31T15:19:14.1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82" autoAdjust="0"/>
    <p:restoredTop sz="94660"/>
  </p:normalViewPr>
  <p:slideViewPr>
    <p:cSldViewPr>
      <p:cViewPr varScale="1">
        <p:scale>
          <a:sx n="78" d="100"/>
          <a:sy n="78" d="100"/>
        </p:scale>
        <p:origin x="1478"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krithika" userId="280362f358dfd609" providerId="LiveId" clId="{8844F5DF-F3D9-465E-A241-FDEBCDE3EDBF}"/>
    <pc:docChg chg="addSld modSld sldOrd">
      <pc:chgData name="s krithika" userId="280362f358dfd609" providerId="LiveId" clId="{8844F5DF-F3D9-465E-A241-FDEBCDE3EDBF}" dt="2025-10-31T15:19:14.161" v="9"/>
      <pc:docMkLst>
        <pc:docMk/>
      </pc:docMkLst>
      <pc:sldChg chg="ord">
        <pc:chgData name="s krithika" userId="280362f358dfd609" providerId="LiveId" clId="{8844F5DF-F3D9-465E-A241-FDEBCDE3EDBF}" dt="2025-10-31T15:01:21.156" v="1"/>
        <pc:sldMkLst>
          <pc:docMk/>
          <pc:sldMk cId="2138774911" sldId="266"/>
        </pc:sldMkLst>
      </pc:sldChg>
      <pc:sldChg chg="add">
        <pc:chgData name="s krithika" userId="280362f358dfd609" providerId="LiveId" clId="{8844F5DF-F3D9-465E-A241-FDEBCDE3EDBF}" dt="2025-10-31T15:02:54.656" v="3"/>
        <pc:sldMkLst>
          <pc:docMk/>
          <pc:sldMk cId="902276371" sldId="272"/>
        </pc:sldMkLst>
      </pc:sldChg>
      <pc:sldChg chg="add">
        <pc:chgData name="s krithika" userId="280362f358dfd609" providerId="LiveId" clId="{8844F5DF-F3D9-465E-A241-FDEBCDE3EDBF}" dt="2025-10-31T15:03:15.349" v="4"/>
        <pc:sldMkLst>
          <pc:docMk/>
          <pc:sldMk cId="2258458237" sldId="273"/>
        </pc:sldMkLst>
      </pc:sldChg>
      <pc:sldChg chg="add">
        <pc:chgData name="s krithika" userId="280362f358dfd609" providerId="LiveId" clId="{8844F5DF-F3D9-465E-A241-FDEBCDE3EDBF}" dt="2025-10-31T15:03:38.018" v="5"/>
        <pc:sldMkLst>
          <pc:docMk/>
          <pc:sldMk cId="288335700" sldId="274"/>
        </pc:sldMkLst>
      </pc:sldChg>
      <pc:sldChg chg="add">
        <pc:chgData name="s krithika" userId="280362f358dfd609" providerId="LiveId" clId="{8844F5DF-F3D9-465E-A241-FDEBCDE3EDBF}" dt="2025-10-31T15:03:49.188" v="6"/>
        <pc:sldMkLst>
          <pc:docMk/>
          <pc:sldMk cId="1087719252" sldId="275"/>
        </pc:sldMkLst>
      </pc:sldChg>
      <pc:sldChg chg="add">
        <pc:chgData name="s krithika" userId="280362f358dfd609" providerId="LiveId" clId="{8844F5DF-F3D9-465E-A241-FDEBCDE3EDBF}" dt="2025-10-31T15:04:56.875" v="8"/>
        <pc:sldMkLst>
          <pc:docMk/>
          <pc:sldMk cId="4234047877" sldId="276"/>
        </pc:sldMkLst>
      </pc:sldChg>
      <pc:sldChg chg="add">
        <pc:chgData name="s krithika" userId="280362f358dfd609" providerId="LiveId" clId="{8844F5DF-F3D9-465E-A241-FDEBCDE3EDBF}" dt="2025-10-31T15:04:25.715" v="7"/>
        <pc:sldMkLst>
          <pc:docMk/>
          <pc:sldMk cId="4062460722" sldId="277"/>
        </pc:sldMkLst>
      </pc:sldChg>
      <pc:sldChg chg="add">
        <pc:chgData name="s krithika" userId="280362f358dfd609" providerId="LiveId" clId="{8844F5DF-F3D9-465E-A241-FDEBCDE3EDBF}" dt="2025-10-31T15:02:16.668" v="2"/>
        <pc:sldMkLst>
          <pc:docMk/>
          <pc:sldMk cId="2333716010" sldId="287"/>
        </pc:sldMkLst>
      </pc:sldChg>
      <pc:sldChg chg="add">
        <pc:chgData name="s krithika" userId="280362f358dfd609" providerId="LiveId" clId="{8844F5DF-F3D9-465E-A241-FDEBCDE3EDBF}" dt="2025-10-31T15:19:14.161" v="9"/>
        <pc:sldMkLst>
          <pc:docMk/>
          <pc:sldMk cId="2182218194" sldId="28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942AD9-36DE-4DD0-AF0A-E211DB78D0B5}" type="datetimeFigureOut">
              <a:rPr lang="en-US" smtClean="0"/>
              <a:pPr/>
              <a:t>10/31/2025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916266-2922-41AE-BB9A-0E75A4DF5522}" type="slidenum">
              <a:rPr lang="en-US" smtClean="0"/>
              <a:pPr/>
              <a:t>‹#›</a:t>
            </a:fld>
            <a:endParaRPr lang="en-US"/>
          </a:p>
        </p:txBody>
      </p:sp>
    </p:spTree>
    <p:extLst>
      <p:ext uri="{BB962C8B-B14F-4D97-AF65-F5344CB8AC3E}">
        <p14:creationId xmlns:p14="http://schemas.microsoft.com/office/powerpoint/2010/main" val="70763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0D601EB-898D-45EB-AF02-BDBAAC1BCF6B}" type="datetime1">
              <a:rPr lang="en-US" smtClean="0"/>
              <a:pPr/>
              <a:t>10/31/2025</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701960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2CAF6E-30C6-4892-8ECC-28B98795E53E}" type="datetime1">
              <a:rPr lang="en-US" smtClean="0"/>
              <a:pPr/>
              <a:t>10/31/2025</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3466879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30014B-F72F-459C-9AEA-83526BA1950E}" type="datetime1">
              <a:rPr lang="en-US" smtClean="0"/>
              <a:pPr/>
              <a:t>10/31/2025</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1464872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CD3470D-456E-4B74-9504-3BED3E1E331F}" type="datetime1">
              <a:rPr lang="en-US" smtClean="0"/>
              <a:pPr/>
              <a:t>10/31/2025</a:t>
            </a:fld>
            <a:endParaRPr lang="en-US"/>
          </a:p>
        </p:txBody>
      </p:sp>
      <p:sp>
        <p:nvSpPr>
          <p:cNvPr id="6" name="Footer Placeholder 5"/>
          <p:cNvSpPr>
            <a:spLocks noGrp="1"/>
          </p:cNvSpPr>
          <p:nvPr>
            <p:ph type="ftr" sz="quarter" idx="11"/>
          </p:nvPr>
        </p:nvSpPr>
        <p:spPr/>
        <p:txBody>
          <a:bodyPr/>
          <a:lstStyle/>
          <a:p>
            <a:r>
              <a:rPr lang="en-US"/>
              <a:t>DEPARTMENT OF COMPUTER SCIENCE AND ENGINEERING - INTERNET OF THINGS</a:t>
            </a:r>
          </a:p>
        </p:txBody>
      </p:sp>
      <p:sp>
        <p:nvSpPr>
          <p:cNvPr id="7" name="Slide Number Placeholder 6"/>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1260757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F57A5D-D22F-444E-B503-748AF7911620}" type="datetime1">
              <a:rPr lang="en-US" smtClean="0"/>
              <a:pPr/>
              <a:t>10/31/2025</a:t>
            </a:fld>
            <a:endParaRPr lang="en-US"/>
          </a:p>
        </p:txBody>
      </p:sp>
      <p:sp>
        <p:nvSpPr>
          <p:cNvPr id="8" name="Footer Placeholder 7"/>
          <p:cNvSpPr>
            <a:spLocks noGrp="1"/>
          </p:cNvSpPr>
          <p:nvPr>
            <p:ph type="ftr" sz="quarter" idx="11"/>
          </p:nvPr>
        </p:nvSpPr>
        <p:spPr/>
        <p:txBody>
          <a:bodyPr/>
          <a:lstStyle/>
          <a:p>
            <a:r>
              <a:rPr lang="en-US"/>
              <a:t>DEPARTMENT OF COMPUTER SCIENCE AND ENGINEERING - INTERNET OF THINGS</a:t>
            </a:r>
          </a:p>
        </p:txBody>
      </p:sp>
      <p:sp>
        <p:nvSpPr>
          <p:cNvPr id="9" name="Slide Number Placeholder 8"/>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3747494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F4DC5B-AE6E-413C-999F-2C6DCDB27E54}" type="datetime1">
              <a:rPr lang="en-US" smtClean="0"/>
              <a:pPr/>
              <a:t>10/31/2025</a:t>
            </a:fld>
            <a:endParaRPr lang="en-US"/>
          </a:p>
        </p:txBody>
      </p:sp>
      <p:sp>
        <p:nvSpPr>
          <p:cNvPr id="4" name="Footer Placeholder 3"/>
          <p:cNvSpPr>
            <a:spLocks noGrp="1"/>
          </p:cNvSpPr>
          <p:nvPr>
            <p:ph type="ftr" sz="quarter" idx="11"/>
          </p:nvPr>
        </p:nvSpPr>
        <p:spPr/>
        <p:txBody>
          <a:bodyPr/>
          <a:lstStyle/>
          <a:p>
            <a:r>
              <a:rPr lang="en-US"/>
              <a:t>DEPARTMENT OF COMPUTER SCIENCE AND ENGINEERING - INTERNET OF THINGS</a:t>
            </a:r>
          </a:p>
        </p:txBody>
      </p:sp>
      <p:sp>
        <p:nvSpPr>
          <p:cNvPr id="5" name="Slide Number Placeholder 4"/>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3813854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17F5AD-FB09-4176-8819-3235C853B628}" type="datetime1">
              <a:rPr lang="en-US" smtClean="0"/>
              <a:pPr/>
              <a:t>10/31/2025</a:t>
            </a:fld>
            <a:endParaRPr lang="en-US"/>
          </a:p>
        </p:txBody>
      </p:sp>
      <p:sp>
        <p:nvSpPr>
          <p:cNvPr id="3" name="Footer Placeholder 2"/>
          <p:cNvSpPr>
            <a:spLocks noGrp="1"/>
          </p:cNvSpPr>
          <p:nvPr>
            <p:ph type="ftr" sz="quarter" idx="11"/>
          </p:nvPr>
        </p:nvSpPr>
        <p:spPr/>
        <p:txBody>
          <a:bodyPr/>
          <a:lstStyle/>
          <a:p>
            <a:r>
              <a:rPr lang="en-US"/>
              <a:t>DEPARTMENT OF COMPUTER SCIENCE AND ENGINEERING - INTERNET OF THINGS</a:t>
            </a:r>
          </a:p>
        </p:txBody>
      </p:sp>
      <p:sp>
        <p:nvSpPr>
          <p:cNvPr id="4" name="Slide Number Placeholder 3"/>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1147304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0BFC23-F62A-4DCF-8A7C-23F35CFA6295}" type="datetime1">
              <a:rPr lang="en-US" smtClean="0"/>
              <a:pPr/>
              <a:t>10/31/2025</a:t>
            </a:fld>
            <a:endParaRPr lang="en-US"/>
          </a:p>
        </p:txBody>
      </p:sp>
      <p:sp>
        <p:nvSpPr>
          <p:cNvPr id="6" name="Footer Placeholder 5"/>
          <p:cNvSpPr>
            <a:spLocks noGrp="1"/>
          </p:cNvSpPr>
          <p:nvPr>
            <p:ph type="ftr" sz="quarter" idx="11"/>
          </p:nvPr>
        </p:nvSpPr>
        <p:spPr/>
        <p:txBody>
          <a:bodyPr/>
          <a:lstStyle/>
          <a:p>
            <a:r>
              <a:rPr lang="en-US"/>
              <a:t>DEPARTMENT OF COMPUTER SCIENCE AND ENGINEERING - INTERNET OF THINGS</a:t>
            </a:r>
          </a:p>
        </p:txBody>
      </p:sp>
      <p:sp>
        <p:nvSpPr>
          <p:cNvPr id="7" name="Slide Number Placeholder 6"/>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2798404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BC4C3F-A6B3-439C-BF6D-6DFD3A565AFB}" type="datetime1">
              <a:rPr lang="en-US" smtClean="0"/>
              <a:pPr/>
              <a:t>10/31/2025</a:t>
            </a:fld>
            <a:endParaRPr lang="en-US"/>
          </a:p>
        </p:txBody>
      </p:sp>
      <p:sp>
        <p:nvSpPr>
          <p:cNvPr id="6" name="Footer Placeholder 5"/>
          <p:cNvSpPr>
            <a:spLocks noGrp="1"/>
          </p:cNvSpPr>
          <p:nvPr>
            <p:ph type="ftr" sz="quarter" idx="11"/>
          </p:nvPr>
        </p:nvSpPr>
        <p:spPr/>
        <p:txBody>
          <a:bodyPr/>
          <a:lstStyle/>
          <a:p>
            <a:r>
              <a:rPr lang="en-US"/>
              <a:t>DEPARTMENT OF COMPUTER SCIENCE AND ENGINEERING - INTERNET OF THINGS</a:t>
            </a:r>
          </a:p>
        </p:txBody>
      </p:sp>
      <p:sp>
        <p:nvSpPr>
          <p:cNvPr id="7" name="Slide Number Placeholder 6"/>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21677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894F03-ECCF-40AC-9049-09ECFD328156}" type="datetime1">
              <a:rPr lang="en-US" smtClean="0"/>
              <a:pPr/>
              <a:t>10/31/2025</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384521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16A059-A3AC-4C78-B822-ABB2B55C89C2}" type="datetime1">
              <a:rPr lang="en-US" smtClean="0"/>
              <a:pPr/>
              <a:t>10/31/2025</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pPr/>
              <a:t>‹#›</a:t>
            </a:fld>
            <a:endParaRPr lang="en-US"/>
          </a:p>
        </p:txBody>
      </p:sp>
    </p:spTree>
    <p:extLst>
      <p:ext uri="{BB962C8B-B14F-4D97-AF65-F5344CB8AC3E}">
        <p14:creationId xmlns:p14="http://schemas.microsoft.com/office/powerpoint/2010/main" val="1398110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053B32-2D0D-46EA-AEFE-E5001DBB2FF4}" type="datetime1">
              <a:rPr lang="en-US" smtClean="0"/>
              <a:pPr/>
              <a:t>10/31/2025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COMPUTER SCIENCE AND ENGINEERING - INTERNET OF THINGS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DEB80-DBCE-406A-80BF-FEBEE692EE79}" type="slidenum">
              <a:rPr lang="en-US" smtClean="0"/>
              <a:pPr/>
              <a:t>‹#›</a:t>
            </a:fld>
            <a:endParaRPr lang="en-US"/>
          </a:p>
        </p:txBody>
      </p:sp>
    </p:spTree>
    <p:extLst>
      <p:ext uri="{BB962C8B-B14F-4D97-AF65-F5344CB8AC3E}">
        <p14:creationId xmlns:p14="http://schemas.microsoft.com/office/powerpoint/2010/main" val="2941625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1200" y="355599"/>
            <a:ext cx="6248400" cy="1330326"/>
          </a:xfrm>
        </p:spPr>
        <p:txBody>
          <a:bodyPr>
            <a:noAutofit/>
          </a:bodyPr>
          <a:lstStyle/>
          <a:p>
            <a:r>
              <a:rPr lang="en-US" sz="1800" b="1" dirty="0">
                <a:latin typeface="Times New Roman" panose="02020603050405020304" charset="0"/>
                <a:cs typeface="Times New Roman" panose="02020603050405020304" charset="0"/>
              </a:rPr>
              <a:t>SRM INSTITUTE OF SCIENCE AND TECHNOLOGY</a:t>
            </a:r>
            <a:br>
              <a:rPr lang="en-US" sz="1800" b="1" dirty="0">
                <a:latin typeface="Times New Roman" panose="02020603050405020304" charset="0"/>
                <a:cs typeface="Times New Roman" panose="02020603050405020304" charset="0"/>
              </a:rPr>
            </a:br>
            <a:r>
              <a:rPr lang="en-US" sz="1800" b="1" dirty="0" err="1">
                <a:latin typeface="Times New Roman" panose="02020603050405020304" charset="0"/>
                <a:cs typeface="Times New Roman" panose="02020603050405020304" charset="0"/>
              </a:rPr>
              <a:t>Ramapuram</a:t>
            </a:r>
            <a:r>
              <a:rPr lang="en-US" sz="1800" b="1" dirty="0">
                <a:latin typeface="Times New Roman" panose="02020603050405020304" charset="0"/>
                <a:cs typeface="Times New Roman" panose="02020603050405020304" charset="0"/>
              </a:rPr>
              <a:t> , Chennai – 600 089</a:t>
            </a:r>
            <a:br>
              <a:rPr lang="en-US" sz="1800" b="1" dirty="0">
                <a:latin typeface="Times New Roman" panose="02020603050405020304" charset="0"/>
                <a:cs typeface="Times New Roman" panose="02020603050405020304" charset="0"/>
              </a:rPr>
            </a:br>
            <a:r>
              <a:rPr lang="en-US" sz="1600" b="1" dirty="0">
                <a:latin typeface="Times New Roman" panose="02020603050405020304" charset="0"/>
                <a:cs typeface="Times New Roman" panose="02020603050405020304" charset="0"/>
              </a:rPr>
              <a:t>DEPARTMENT OF COMPUTER SCIENCE AND ENGINEERING</a:t>
            </a:r>
            <a:endParaRPr lang="en-US" sz="1800" dirty="0"/>
          </a:p>
        </p:txBody>
      </p:sp>
      <p:sp>
        <p:nvSpPr>
          <p:cNvPr id="3" name="Subtitle 2"/>
          <p:cNvSpPr>
            <a:spLocks noGrp="1"/>
          </p:cNvSpPr>
          <p:nvPr>
            <p:ph type="subTitle" idx="1"/>
          </p:nvPr>
        </p:nvSpPr>
        <p:spPr>
          <a:xfrm>
            <a:off x="609600" y="1670554"/>
            <a:ext cx="8077200" cy="1247775"/>
          </a:xfrm>
        </p:spPr>
        <p:txBody>
          <a:bodyPr>
            <a:noAutofit/>
          </a:bodyPr>
          <a:lstStyle/>
          <a:p>
            <a:r>
              <a:rPr lang="en-IN" sz="2400" dirty="0">
                <a:solidFill>
                  <a:schemeClr val="tx1"/>
                </a:solidFill>
              </a:rPr>
              <a:t>21CSC305P/MACHINE LEARNING/PROJECT EVALUATION</a:t>
            </a:r>
            <a:endParaRPr lang="en-US" sz="2400" dirty="0">
              <a:solidFill>
                <a:schemeClr val="tx1"/>
              </a:solidFill>
            </a:endParaRPr>
          </a:p>
          <a:p>
            <a:r>
              <a:rPr lang="en-US" sz="1800" dirty="0">
                <a:solidFill>
                  <a:schemeClr val="tx1"/>
                </a:solidFill>
              </a:rPr>
              <a:t>REAL-TIME EXERCISE REPETITION TRACKING SYSTEM USING </a:t>
            </a:r>
          </a:p>
          <a:p>
            <a:r>
              <a:rPr lang="en-US" sz="1800" dirty="0">
                <a:solidFill>
                  <a:schemeClr val="tx1"/>
                </a:solidFill>
              </a:rPr>
              <a:t>COMPUTER VISION AND IP WEBCAM VIDEO STREAM INPUT</a:t>
            </a:r>
          </a:p>
        </p:txBody>
      </p:sp>
      <p:sp>
        <p:nvSpPr>
          <p:cNvPr id="5" name="Subtitle 2"/>
          <p:cNvSpPr txBox="1">
            <a:spLocks/>
          </p:cNvSpPr>
          <p:nvPr/>
        </p:nvSpPr>
        <p:spPr>
          <a:xfrm>
            <a:off x="1447800" y="2834914"/>
            <a:ext cx="6400800" cy="8382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dirty="0">
                <a:solidFill>
                  <a:schemeClr val="tx1"/>
                </a:solidFill>
              </a:rPr>
              <a:t>BATCH NUMBER : 11</a:t>
            </a:r>
          </a:p>
        </p:txBody>
      </p:sp>
      <p:graphicFrame>
        <p:nvGraphicFramePr>
          <p:cNvPr id="6" name="Table 5"/>
          <p:cNvGraphicFramePr>
            <a:graphicFrameLocks noGrp="1"/>
          </p:cNvGraphicFramePr>
          <p:nvPr>
            <p:extLst>
              <p:ext uri="{D42A27DB-BD31-4B8C-83A1-F6EECF244321}">
                <p14:modId xmlns:p14="http://schemas.microsoft.com/office/powerpoint/2010/main" val="3436365433"/>
              </p:ext>
            </p:extLst>
          </p:nvPr>
        </p:nvGraphicFramePr>
        <p:xfrm>
          <a:off x="533400" y="3706640"/>
          <a:ext cx="8191500" cy="1753669"/>
        </p:xfrm>
        <a:graphic>
          <a:graphicData uri="http://schemas.openxmlformats.org/drawingml/2006/table">
            <a:tbl>
              <a:tblPr firstRow="1" bandRow="1">
                <a:tableStyleId>{BDBED569-4797-4DF1-A0F4-6AAB3CD982D8}</a:tableStyleId>
              </a:tblPr>
              <a:tblGrid>
                <a:gridCol w="40957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tblGrid>
              <a:tr h="304366">
                <a:tc>
                  <a:txBody>
                    <a:bodyPr/>
                    <a:lstStyle/>
                    <a:p>
                      <a:r>
                        <a:rPr lang="en-US" dirty="0"/>
                        <a:t>Team Members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Supervisor</a:t>
                      </a:r>
                    </a:p>
                  </a:txBody>
                  <a:tcPr/>
                </a:tc>
                <a:extLst>
                  <a:ext uri="{0D108BD9-81ED-4DB2-BD59-A6C34878D82A}">
                    <a16:rowId xmlns:a16="http://schemas.microsoft.com/office/drawing/2014/main" val="10000"/>
                  </a:ext>
                </a:extLst>
              </a:tr>
              <a:tr h="1387909">
                <a:tc>
                  <a:txBody>
                    <a:bodyPr/>
                    <a:lstStyle/>
                    <a:p>
                      <a:r>
                        <a:rPr lang="en-US" dirty="0"/>
                        <a:t>C S Ashwin (RA2311003020396)</a:t>
                      </a:r>
                    </a:p>
                    <a:p>
                      <a:r>
                        <a:rPr lang="en-US" dirty="0"/>
                        <a:t>S M Vivek Rao (RA2311003020409)</a:t>
                      </a:r>
                    </a:p>
                    <a:p>
                      <a:r>
                        <a:rPr lang="en-US" dirty="0"/>
                        <a:t>S Krithika (RA2311003020416)</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NAME: Mr. Kingsly Stephen</a:t>
                      </a:r>
                    </a:p>
                  </a:txBody>
                  <a:tcPr/>
                </a:tc>
                <a:extLst>
                  <a:ext uri="{0D108BD9-81ED-4DB2-BD59-A6C34878D82A}">
                    <a16:rowId xmlns:a16="http://schemas.microsoft.com/office/drawing/2014/main" val="10001"/>
                  </a:ext>
                </a:extLst>
              </a:tr>
            </a:tbl>
          </a:graphicData>
        </a:graphic>
      </p:graphicFrame>
      <p:sp>
        <p:nvSpPr>
          <p:cNvPr id="7" name="Footer Placeholder 6"/>
          <p:cNvSpPr>
            <a:spLocks noGrp="1"/>
          </p:cNvSpPr>
          <p:nvPr>
            <p:ph type="ftr" sz="quarter" idx="11"/>
          </p:nvPr>
        </p:nvSpPr>
        <p:spPr>
          <a:xfrm>
            <a:off x="533400" y="6356351"/>
            <a:ext cx="8077200" cy="273049"/>
          </a:xfrm>
        </p:spPr>
        <p:txBody>
          <a:bodyPr/>
          <a:lstStyle/>
          <a:p>
            <a:r>
              <a:rPr lang="en-US" dirty="0"/>
              <a:t>Date							Slide Number</a:t>
            </a:r>
          </a:p>
          <a:p>
            <a:endParaRPr lang="en-US" dirty="0"/>
          </a:p>
        </p:txBody>
      </p:sp>
      <p:pic>
        <p:nvPicPr>
          <p:cNvPr id="8" name="Image 3"/>
          <p:cNvPicPr/>
          <p:nvPr/>
        </p:nvPicPr>
        <p:blipFill>
          <a:blip r:embed="rId2" cstate="print"/>
          <a:stretch>
            <a:fillRect/>
          </a:stretch>
        </p:blipFill>
        <p:spPr>
          <a:xfrm>
            <a:off x="609600" y="618403"/>
            <a:ext cx="1200150" cy="527050"/>
          </a:xfrm>
          <a:prstGeom prst="rect">
            <a:avLst/>
          </a:prstGeom>
        </p:spPr>
      </p:pic>
    </p:spTree>
    <p:extLst>
      <p:ext uri="{BB962C8B-B14F-4D97-AF65-F5344CB8AC3E}">
        <p14:creationId xmlns:p14="http://schemas.microsoft.com/office/powerpoint/2010/main" val="268442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Agenda(Only for Reference-Modify accordingly) </a:t>
            </a:r>
          </a:p>
        </p:txBody>
      </p:sp>
      <p:sp>
        <p:nvSpPr>
          <p:cNvPr id="3" name="Content Placeholder 2"/>
          <p:cNvSpPr>
            <a:spLocks noGrp="1"/>
          </p:cNvSpPr>
          <p:nvPr>
            <p:ph idx="1"/>
          </p:nvPr>
        </p:nvSpPr>
        <p:spPr>
          <a:xfrm>
            <a:off x="457200" y="1524000"/>
            <a:ext cx="8229600" cy="4602163"/>
          </a:xfrm>
        </p:spPr>
        <p:txBody>
          <a:bodyPr>
            <a:normAutofit fontScale="85000" lnSpcReduction="20000"/>
          </a:bodyPr>
          <a:lstStyle/>
          <a:p>
            <a:pPr rtl="0" fontAlgn="base">
              <a:spcBef>
                <a:spcPts val="0"/>
              </a:spcBef>
              <a:spcAft>
                <a:spcPts val="0"/>
              </a:spcAf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Abstract</a:t>
            </a:r>
          </a:p>
          <a:p>
            <a:pPr rtl="0" fontAlgn="base">
              <a:spcBef>
                <a:spcPts val="1000"/>
              </a:spcBef>
              <a:spcAft>
                <a:spcPts val="0"/>
              </a:spcAf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Scope and Motivation</a:t>
            </a:r>
          </a:p>
          <a:p>
            <a:pPr rtl="0" fontAlgn="base">
              <a:spcBef>
                <a:spcPts val="1000"/>
              </a:spcBef>
              <a:spcAft>
                <a:spcPts val="0"/>
              </a:spcAft>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Introduction</a:t>
            </a:r>
          </a:p>
          <a:p>
            <a:pPr rtl="0" fontAlgn="base">
              <a:spcBef>
                <a:spcPts val="1000"/>
              </a:spcBef>
              <a:spcAft>
                <a:spcPts val="0"/>
              </a:spcAf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Literature Survey ( Table)</a:t>
            </a:r>
          </a:p>
          <a:p>
            <a:pPr rtl="0" fontAlgn="base">
              <a:spcBef>
                <a:spcPts val="1000"/>
              </a:spcBef>
              <a:spcAft>
                <a:spcPts val="0"/>
              </a:spcAft>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Objective</a:t>
            </a:r>
            <a:endParaRPr lang="en-US" sz="26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1000"/>
              </a:spcBef>
              <a:spcAft>
                <a:spcPts val="0"/>
              </a:spcAft>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Problem Statement</a:t>
            </a:r>
          </a:p>
          <a:p>
            <a:pPr rtl="0" fontAlgn="base">
              <a:spcBef>
                <a:spcPts val="1000"/>
              </a:spcBef>
              <a:spcAft>
                <a:spcPts val="0"/>
              </a:spcAft>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Proposed Work</a:t>
            </a:r>
          </a:p>
          <a:p>
            <a:pPr lvl="1" fontAlgn="base">
              <a:spcBef>
                <a:spcPts val="1000"/>
              </a:spcBef>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Architecture Diagram/Flow Diagram/Block Diagram</a:t>
            </a:r>
          </a:p>
          <a:p>
            <a:pPr lvl="1" fontAlgn="base">
              <a:spcBef>
                <a:spcPts val="1000"/>
              </a:spcBef>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Novel idea</a:t>
            </a:r>
          </a:p>
          <a:p>
            <a:pPr lvl="1" fontAlgn="base">
              <a:spcBef>
                <a:spcPts val="1000"/>
              </a:spcBef>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Modules</a:t>
            </a:r>
          </a:p>
          <a:p>
            <a:pPr lvl="1" fontAlgn="base">
              <a:spcBef>
                <a:spcPts val="1000"/>
              </a:spcBef>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Module Description</a:t>
            </a:r>
          </a:p>
          <a:p>
            <a:endParaRPr lang="en-US" dirty="0"/>
          </a:p>
        </p:txBody>
      </p:sp>
      <p:sp>
        <p:nvSpPr>
          <p:cNvPr id="4" name="Footer Placeholder 3"/>
          <p:cNvSpPr>
            <a:spLocks noGrp="1"/>
          </p:cNvSpPr>
          <p:nvPr>
            <p:ph type="ftr" sz="quarter" idx="11"/>
          </p:nvPr>
        </p:nvSpPr>
        <p:spPr>
          <a:xfrm>
            <a:off x="457200" y="6356350"/>
            <a:ext cx="8229600" cy="425450"/>
          </a:xfrm>
        </p:spPr>
        <p:txBody>
          <a:bodyPr/>
          <a:lstStyle/>
          <a:p>
            <a:r>
              <a:rPr lang="en-US" dirty="0"/>
              <a:t>DEPARTMENT OF COMPUTER SCIENCE AND ENGINEERING </a:t>
            </a:r>
          </a:p>
        </p:txBody>
      </p:sp>
    </p:spTree>
    <p:extLst>
      <p:ext uri="{BB962C8B-B14F-4D97-AF65-F5344CB8AC3E}">
        <p14:creationId xmlns:p14="http://schemas.microsoft.com/office/powerpoint/2010/main" val="4235830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9155" y="304800"/>
            <a:ext cx="8229600" cy="1143000"/>
          </a:xfrm>
        </p:spPr>
        <p:txBody>
          <a:bodyPr>
            <a:normAutofit/>
          </a:bodyPr>
          <a:lstStyle/>
          <a:p>
            <a:r>
              <a:rPr lang="en-US" dirty="0"/>
              <a:t>ABSTRACT</a:t>
            </a:r>
          </a:p>
        </p:txBody>
      </p:sp>
      <p:sp>
        <p:nvSpPr>
          <p:cNvPr id="4" name="Footer Placeholder 3"/>
          <p:cNvSpPr>
            <a:spLocks noGrp="1"/>
          </p:cNvSpPr>
          <p:nvPr>
            <p:ph type="ftr" sz="quarter" idx="11"/>
          </p:nvPr>
        </p:nvSpPr>
        <p:spPr>
          <a:xfrm>
            <a:off x="457200" y="6356351"/>
            <a:ext cx="8229600" cy="349249"/>
          </a:xfrm>
        </p:spPr>
        <p:txBody>
          <a:bodyPr/>
          <a:lstStyle/>
          <a:p>
            <a:r>
              <a:rPr lang="en-US" dirty="0"/>
              <a:t>DEPARTMENT OF COMPUTER SCIENCE AND ENGINEERING </a:t>
            </a:r>
          </a:p>
          <a:p>
            <a:endParaRPr lang="en-US" dirty="0"/>
          </a:p>
        </p:txBody>
      </p:sp>
      <p:sp>
        <p:nvSpPr>
          <p:cNvPr id="5" name="Rectangle 1">
            <a:extLst>
              <a:ext uri="{FF2B5EF4-FFF2-40B4-BE49-F238E27FC236}">
                <a16:creationId xmlns:a16="http://schemas.microsoft.com/office/drawing/2014/main" id="{23B1EA80-C289-CD3C-7803-88FE2830E16A}"/>
              </a:ext>
            </a:extLst>
          </p:cNvPr>
          <p:cNvSpPr>
            <a:spLocks noGrp="1" noChangeArrowheads="1"/>
          </p:cNvSpPr>
          <p:nvPr>
            <p:ph idx="1"/>
          </p:nvPr>
        </p:nvSpPr>
        <p:spPr bwMode="auto">
          <a:xfrm>
            <a:off x="685800" y="1454727"/>
            <a:ext cx="7772400"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spcBef>
                <a:spcPct val="0"/>
              </a:spcBef>
              <a:spcAft>
                <a:spcPct val="0"/>
              </a:spcAft>
              <a:buNone/>
            </a:pPr>
            <a:r>
              <a:rPr lang="en-US" sz="2200" dirty="0"/>
              <a:t>This project presents a real-time exercise tracking system that utilizes computer vision and machine learning techniques for fitness monitoring. The system employs OpenCV and </a:t>
            </a:r>
            <a:r>
              <a:rPr lang="en-US" sz="2200" dirty="0" err="1"/>
              <a:t>MediaPipe</a:t>
            </a:r>
            <a:r>
              <a:rPr lang="en-US" sz="2200" dirty="0"/>
              <a:t> to accurately detect and count squats and bicep curls using pose estimation and joint angle calculations. It provides live feedback through camera overlays, tracks calories burned, and maintains logs in CSV format. Additionally, the system generates an automatic PDF summary report and visualizes workout progress through graphs. To enhance usability, the solution integrates email automation to send workout summaries directly to the user. This ensures a complete end-to-end fitness monitoring solution that is affordable, accessible, and easy to use with just a webcam.</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8812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EE3B-EF69-0977-AFB9-235BDA5C72E9}"/>
              </a:ext>
            </a:extLst>
          </p:cNvPr>
          <p:cNvSpPr>
            <a:spLocks noGrp="1"/>
          </p:cNvSpPr>
          <p:nvPr>
            <p:ph type="title"/>
          </p:nvPr>
        </p:nvSpPr>
        <p:spPr/>
        <p:txBody>
          <a:bodyPr/>
          <a:lstStyle/>
          <a:p>
            <a:r>
              <a:rPr lang="en-US" dirty="0"/>
              <a:t>Scope and Motivation</a:t>
            </a:r>
            <a:endParaRPr lang="en-IN" dirty="0"/>
          </a:p>
        </p:txBody>
      </p:sp>
      <p:sp>
        <p:nvSpPr>
          <p:cNvPr id="3" name="Content Placeholder 2">
            <a:extLst>
              <a:ext uri="{FF2B5EF4-FFF2-40B4-BE49-F238E27FC236}">
                <a16:creationId xmlns:a16="http://schemas.microsoft.com/office/drawing/2014/main" id="{019A989F-FD18-DCF6-CF7A-D71DEBBB3FF4}"/>
              </a:ext>
            </a:extLst>
          </p:cNvPr>
          <p:cNvSpPr>
            <a:spLocks noGrp="1"/>
          </p:cNvSpPr>
          <p:nvPr>
            <p:ph idx="1"/>
          </p:nvPr>
        </p:nvSpPr>
        <p:spPr>
          <a:xfrm>
            <a:off x="609600" y="1417638"/>
            <a:ext cx="7924800" cy="4267200"/>
          </a:xfrm>
        </p:spPr>
        <p:txBody>
          <a:bodyPr>
            <a:normAutofit fontScale="70000" lnSpcReduction="20000"/>
          </a:bodyPr>
          <a:lstStyle/>
          <a:p>
            <a:pPr marL="0" indent="0" algn="just">
              <a:lnSpc>
                <a:spcPct val="120000"/>
              </a:lnSpc>
              <a:buNone/>
            </a:pPr>
            <a:r>
              <a:rPr lang="en-US" dirty="0"/>
              <a:t>The primary motivation of this project is to provide a simple, affordable, and effective solution for fitness monitoring using just a webcam. Traditional workout tracking methods are either manual, error-prone, or dependent on expensive smart devices and wearables. This system eliminates the need for additional hardware by leveraging computer vision and pose estimation techniques to track exercises in real time. It enables users to receive personalized progress reports, calorie estimations, and visual feedback, making fitness accessible at home. By integrating automated report generation and email delivery, the system not only promotes consistent workout tracking but also encourages users to adopt a healthier lifestyle through technology-driven motivation.</a:t>
            </a:r>
            <a:endParaRPr dirty="0"/>
          </a:p>
        </p:txBody>
      </p:sp>
      <p:sp>
        <p:nvSpPr>
          <p:cNvPr id="4" name="Footer Placeholder 3">
            <a:extLst>
              <a:ext uri="{FF2B5EF4-FFF2-40B4-BE49-F238E27FC236}">
                <a16:creationId xmlns:a16="http://schemas.microsoft.com/office/drawing/2014/main" id="{11EB3DD1-2143-723E-138B-B167BB8E9E07}"/>
              </a:ext>
            </a:extLst>
          </p:cNvPr>
          <p:cNvSpPr>
            <a:spLocks noGrp="1"/>
          </p:cNvSpPr>
          <p:nvPr>
            <p:ph type="ftr" sz="quarter" idx="11"/>
          </p:nvPr>
        </p:nvSpPr>
        <p:spPr>
          <a:xfrm>
            <a:off x="2667000" y="6324600"/>
            <a:ext cx="4114800" cy="365125"/>
          </a:xfrm>
        </p:spPr>
        <p:txBody>
          <a:bodyPr/>
          <a:lstStyle/>
          <a:p>
            <a:r>
              <a:rPr lang="en-US" dirty="0"/>
              <a:t>DEPARTMENT OF COMPUTER SCIENCE AND ENGINEERING </a:t>
            </a:r>
          </a:p>
        </p:txBody>
      </p:sp>
    </p:spTree>
    <p:extLst>
      <p:ext uri="{BB962C8B-B14F-4D97-AF65-F5344CB8AC3E}">
        <p14:creationId xmlns:p14="http://schemas.microsoft.com/office/powerpoint/2010/main" val="179691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413C5-35C8-DD13-0169-F08568FB1DF9}"/>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3D796DD2-E023-A768-5C91-3614BF6A8691}"/>
              </a:ext>
            </a:extLst>
          </p:cNvPr>
          <p:cNvSpPr>
            <a:spLocks noGrp="1"/>
          </p:cNvSpPr>
          <p:nvPr>
            <p:ph idx="1"/>
          </p:nvPr>
        </p:nvSpPr>
        <p:spPr>
          <a:xfrm>
            <a:off x="609600" y="1524000"/>
            <a:ext cx="8077200" cy="4602163"/>
          </a:xfrm>
        </p:spPr>
        <p:txBody>
          <a:bodyPr>
            <a:noAutofit/>
          </a:bodyPr>
          <a:lstStyle/>
          <a:p>
            <a:pPr marL="0" indent="0" algn="just">
              <a:buNone/>
            </a:pPr>
            <a:r>
              <a:rPr lang="en-US" sz="2000" dirty="0"/>
              <a:t>In recent years, technology has increasingly played a significant role in health and fitness, offering innovative solutions to monitor physical activities. However, most existing systems rely on wearable devices or costly equipment, which limits accessibility for many users. This project introduces a webcam-based exercise tracker that uses computer vision and machine learning techniques to detect and count squats and bicep curls in real time. By utilizing OpenCV and </a:t>
            </a:r>
            <a:r>
              <a:rPr lang="en-US" sz="2000" dirty="0" err="1"/>
              <a:t>MediaPipe</a:t>
            </a:r>
            <a:r>
              <a:rPr lang="en-US" sz="2000" dirty="0"/>
              <a:t> for pose estimation, the system analyzes body landmarks and joint angles to ensure accurate detection of movements. Along with live feedback overlays, the system estimates calories burned, generates workout logs, creates automated reports, and delivers them via email. This integrated solution bridges the gap between affordability and functionality, providing a user-friendly platform for fitness monitoring at home.</a:t>
            </a:r>
            <a:endParaRPr lang="en-IN" sz="2000" dirty="0"/>
          </a:p>
        </p:txBody>
      </p:sp>
      <p:sp>
        <p:nvSpPr>
          <p:cNvPr id="4" name="Footer Placeholder 3">
            <a:extLst>
              <a:ext uri="{FF2B5EF4-FFF2-40B4-BE49-F238E27FC236}">
                <a16:creationId xmlns:a16="http://schemas.microsoft.com/office/drawing/2014/main" id="{4C76CB56-4FFD-0343-7F71-2F7508171601}"/>
              </a:ext>
            </a:extLst>
          </p:cNvPr>
          <p:cNvSpPr>
            <a:spLocks noGrp="1"/>
          </p:cNvSpPr>
          <p:nvPr>
            <p:ph type="ftr" sz="quarter" idx="11"/>
          </p:nvPr>
        </p:nvSpPr>
        <p:spPr>
          <a:xfrm>
            <a:off x="2362200" y="6400799"/>
            <a:ext cx="4572000" cy="365125"/>
          </a:xfrm>
        </p:spPr>
        <p:txBody>
          <a:bodyPr/>
          <a:lstStyle/>
          <a:p>
            <a:r>
              <a:rPr lang="en-US" dirty="0"/>
              <a:t>DEPARTMENT OF COMPUTER SCIENCE AND ENGINEERING</a:t>
            </a:r>
          </a:p>
        </p:txBody>
      </p:sp>
    </p:spTree>
    <p:extLst>
      <p:ext uri="{BB962C8B-B14F-4D97-AF65-F5344CB8AC3E}">
        <p14:creationId xmlns:p14="http://schemas.microsoft.com/office/powerpoint/2010/main" val="4025045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C4BFA-EF7A-2726-E18D-8EC26A5041F7}"/>
              </a:ext>
            </a:extLst>
          </p:cNvPr>
          <p:cNvSpPr>
            <a:spLocks noGrp="1"/>
          </p:cNvSpPr>
          <p:nvPr>
            <p:ph type="title"/>
          </p:nvPr>
        </p:nvSpPr>
        <p:spPr>
          <a:xfrm>
            <a:off x="381000" y="32417"/>
            <a:ext cx="8229600" cy="1143000"/>
          </a:xfrm>
        </p:spPr>
        <p:txBody>
          <a:bodyPr/>
          <a:lstStyle/>
          <a:p>
            <a:r>
              <a:rPr lang="en-IN" dirty="0"/>
              <a:t>Literature Survey</a:t>
            </a:r>
          </a:p>
        </p:txBody>
      </p:sp>
      <p:graphicFrame>
        <p:nvGraphicFramePr>
          <p:cNvPr id="5" name="Table 5">
            <a:extLst>
              <a:ext uri="{FF2B5EF4-FFF2-40B4-BE49-F238E27FC236}">
                <a16:creationId xmlns:a16="http://schemas.microsoft.com/office/drawing/2014/main" id="{E92485E8-B03D-466E-3351-604518A9B06B}"/>
              </a:ext>
            </a:extLst>
          </p:cNvPr>
          <p:cNvGraphicFramePr>
            <a:graphicFrameLocks noGrp="1"/>
          </p:cNvGraphicFramePr>
          <p:nvPr>
            <p:ph idx="1"/>
            <p:extLst>
              <p:ext uri="{D42A27DB-BD31-4B8C-83A1-F6EECF244321}">
                <p14:modId xmlns:p14="http://schemas.microsoft.com/office/powerpoint/2010/main" val="485514327"/>
              </p:ext>
            </p:extLst>
          </p:nvPr>
        </p:nvGraphicFramePr>
        <p:xfrm>
          <a:off x="228600" y="990601"/>
          <a:ext cx="8534402" cy="5303224"/>
        </p:xfrm>
        <a:graphic>
          <a:graphicData uri="http://schemas.openxmlformats.org/drawingml/2006/table">
            <a:tbl>
              <a:tblPr firstRow="1" bandRow="1">
                <a:tableStyleId>{5C22544A-7EE6-4342-B048-85BDC9FD1C3A}</a:tableStyleId>
              </a:tblPr>
              <a:tblGrid>
                <a:gridCol w="1038972">
                  <a:extLst>
                    <a:ext uri="{9D8B030D-6E8A-4147-A177-3AD203B41FA5}">
                      <a16:colId xmlns:a16="http://schemas.microsoft.com/office/drawing/2014/main" val="2118388853"/>
                    </a:ext>
                  </a:extLst>
                </a:gridCol>
                <a:gridCol w="1855306">
                  <a:extLst>
                    <a:ext uri="{9D8B030D-6E8A-4147-A177-3AD203B41FA5}">
                      <a16:colId xmlns:a16="http://schemas.microsoft.com/office/drawing/2014/main" val="2270197206"/>
                    </a:ext>
                  </a:extLst>
                </a:gridCol>
                <a:gridCol w="1261607">
                  <a:extLst>
                    <a:ext uri="{9D8B030D-6E8A-4147-A177-3AD203B41FA5}">
                      <a16:colId xmlns:a16="http://schemas.microsoft.com/office/drawing/2014/main" val="2951581292"/>
                    </a:ext>
                  </a:extLst>
                </a:gridCol>
                <a:gridCol w="1781092">
                  <a:extLst>
                    <a:ext uri="{9D8B030D-6E8A-4147-A177-3AD203B41FA5}">
                      <a16:colId xmlns:a16="http://schemas.microsoft.com/office/drawing/2014/main" val="561052809"/>
                    </a:ext>
                  </a:extLst>
                </a:gridCol>
                <a:gridCol w="2597425">
                  <a:extLst>
                    <a:ext uri="{9D8B030D-6E8A-4147-A177-3AD203B41FA5}">
                      <a16:colId xmlns:a16="http://schemas.microsoft.com/office/drawing/2014/main" val="3531675469"/>
                    </a:ext>
                  </a:extLst>
                </a:gridCol>
              </a:tblGrid>
              <a:tr h="696382">
                <a:tc>
                  <a:txBody>
                    <a:bodyPr/>
                    <a:lstStyle/>
                    <a:p>
                      <a:pPr algn="ctr">
                        <a:lnSpc>
                          <a:spcPct val="150000"/>
                        </a:lnSpc>
                      </a:pPr>
                      <a:r>
                        <a:rPr lang="en-IN" sz="1500" dirty="0" err="1"/>
                        <a:t>S.No</a:t>
                      </a:r>
                      <a:r>
                        <a:rPr lang="en-IN" sz="1500" dirty="0"/>
                        <a:t>.</a:t>
                      </a:r>
                    </a:p>
                  </a:txBody>
                  <a:tcPr/>
                </a:tc>
                <a:tc>
                  <a:txBody>
                    <a:bodyPr/>
                    <a:lstStyle/>
                    <a:p>
                      <a:pPr algn="ctr">
                        <a:lnSpc>
                          <a:spcPct val="150000"/>
                        </a:lnSpc>
                      </a:pPr>
                      <a:r>
                        <a:rPr lang="en-IN" sz="1500" dirty="0"/>
                        <a:t>Title of the Paper</a:t>
                      </a:r>
                    </a:p>
                  </a:txBody>
                  <a:tcPr/>
                </a:tc>
                <a:tc>
                  <a:txBody>
                    <a:bodyPr/>
                    <a:lstStyle/>
                    <a:p>
                      <a:pPr algn="ctr">
                        <a:lnSpc>
                          <a:spcPct val="150000"/>
                        </a:lnSpc>
                      </a:pPr>
                      <a:r>
                        <a:rPr lang="en-IN" sz="1500" dirty="0"/>
                        <a:t>Year</a:t>
                      </a:r>
                    </a:p>
                  </a:txBody>
                  <a:tcPr/>
                </a:tc>
                <a:tc>
                  <a:txBody>
                    <a:bodyPr/>
                    <a:lstStyle/>
                    <a:p>
                      <a:pPr algn="ctr">
                        <a:lnSpc>
                          <a:spcPct val="150000"/>
                        </a:lnSpc>
                      </a:pPr>
                      <a:r>
                        <a:rPr lang="en-IN" sz="1500" dirty="0"/>
                        <a:t>Journal/</a:t>
                      </a:r>
                    </a:p>
                    <a:p>
                      <a:pPr algn="ctr">
                        <a:lnSpc>
                          <a:spcPct val="150000"/>
                        </a:lnSpc>
                      </a:pPr>
                      <a:r>
                        <a:rPr lang="en-IN" sz="1500" dirty="0"/>
                        <a:t>Conference Name</a:t>
                      </a:r>
                    </a:p>
                  </a:txBody>
                  <a:tcPr/>
                </a:tc>
                <a:tc>
                  <a:txBody>
                    <a:bodyPr/>
                    <a:lstStyle/>
                    <a:p>
                      <a:pPr algn="ctr">
                        <a:lnSpc>
                          <a:spcPct val="150000"/>
                        </a:lnSpc>
                      </a:pPr>
                      <a:r>
                        <a:rPr lang="en-IN" sz="1500" dirty="0"/>
                        <a:t>Inferences</a:t>
                      </a:r>
                    </a:p>
                  </a:txBody>
                  <a:tcPr/>
                </a:tc>
                <a:extLst>
                  <a:ext uri="{0D108BD9-81ED-4DB2-BD59-A6C34878D82A}">
                    <a16:rowId xmlns:a16="http://schemas.microsoft.com/office/drawing/2014/main" val="2280627976"/>
                  </a:ext>
                </a:extLst>
              </a:tr>
              <a:tr h="4561417">
                <a:tc>
                  <a:txBody>
                    <a:bodyPr/>
                    <a:lstStyle/>
                    <a:p>
                      <a:pPr>
                        <a:lnSpc>
                          <a:spcPct val="150000"/>
                        </a:lnSpc>
                      </a:pPr>
                      <a:r>
                        <a:rPr lang="en-US" sz="1400" dirty="0"/>
                        <a:t>1.</a:t>
                      </a:r>
                    </a:p>
                    <a:p>
                      <a:pPr>
                        <a:lnSpc>
                          <a:spcPct val="150000"/>
                        </a:lnSpc>
                      </a:pPr>
                      <a:endParaRPr lang="en-US" sz="1400" dirty="0"/>
                    </a:p>
                    <a:p>
                      <a:pPr>
                        <a:lnSpc>
                          <a:spcPct val="150000"/>
                        </a:lnSpc>
                      </a:pPr>
                      <a:endParaRPr lang="en-US" sz="1400" dirty="0"/>
                    </a:p>
                    <a:p>
                      <a:pPr>
                        <a:lnSpc>
                          <a:spcPct val="150000"/>
                        </a:lnSpc>
                      </a:pPr>
                      <a:endParaRPr lang="en-US" sz="1400" dirty="0"/>
                    </a:p>
                    <a:p>
                      <a:pPr>
                        <a:lnSpc>
                          <a:spcPct val="150000"/>
                        </a:lnSpc>
                      </a:pPr>
                      <a:endParaRPr lang="en-US" sz="1400" dirty="0"/>
                    </a:p>
                    <a:p>
                      <a:pPr>
                        <a:lnSpc>
                          <a:spcPct val="150000"/>
                        </a:lnSpc>
                      </a:pPr>
                      <a:r>
                        <a:rPr lang="en-US" sz="1400" dirty="0"/>
                        <a:t>2.</a:t>
                      </a:r>
                    </a:p>
                    <a:p>
                      <a:pPr>
                        <a:lnSpc>
                          <a:spcPct val="150000"/>
                        </a:lnSpc>
                      </a:pPr>
                      <a:endParaRPr lang="en-US" sz="1400" dirty="0"/>
                    </a:p>
                    <a:p>
                      <a:pPr>
                        <a:lnSpc>
                          <a:spcPct val="150000"/>
                        </a:lnSpc>
                      </a:pPr>
                      <a:endParaRPr lang="en-US" sz="1400" dirty="0"/>
                    </a:p>
                    <a:p>
                      <a:pPr>
                        <a:lnSpc>
                          <a:spcPct val="150000"/>
                        </a:lnSpc>
                      </a:pPr>
                      <a:endParaRPr lang="en-US" sz="1400" dirty="0"/>
                    </a:p>
                    <a:p>
                      <a:pPr>
                        <a:lnSpc>
                          <a:spcPct val="150000"/>
                        </a:lnSpc>
                      </a:pPr>
                      <a:endParaRPr lang="en-US" sz="1400" dirty="0"/>
                    </a:p>
                    <a:p>
                      <a:pPr>
                        <a:lnSpc>
                          <a:spcPct val="150000"/>
                        </a:lnSpc>
                      </a:pPr>
                      <a:r>
                        <a:rPr lang="en-US" sz="1400" dirty="0"/>
                        <a:t>3.</a:t>
                      </a:r>
                      <a:endParaRPr lang="en-IN" sz="1400" dirty="0"/>
                    </a:p>
                  </a:txBody>
                  <a:tcPr/>
                </a:tc>
                <a:tc>
                  <a:txBody>
                    <a:bodyPr/>
                    <a:lstStyle/>
                    <a:p>
                      <a:pPr>
                        <a:lnSpc>
                          <a:spcPct val="150000"/>
                        </a:lnSpc>
                      </a:pPr>
                      <a:r>
                        <a:rPr lang="en-US" sz="1400" dirty="0"/>
                        <a:t>Human pose estimation via deep neural Network</a:t>
                      </a:r>
                    </a:p>
                    <a:p>
                      <a:pPr>
                        <a:lnSpc>
                          <a:spcPct val="150000"/>
                        </a:lnSpc>
                      </a:pPr>
                      <a:endParaRPr lang="en-US" sz="1400" dirty="0"/>
                    </a:p>
                    <a:p>
                      <a:pPr>
                        <a:lnSpc>
                          <a:spcPct val="150000"/>
                        </a:lnSpc>
                      </a:pPr>
                      <a:endParaRPr lang="en-US" sz="1400" dirty="0"/>
                    </a:p>
                    <a:p>
                      <a:pPr>
                        <a:lnSpc>
                          <a:spcPct val="150000"/>
                        </a:lnSpc>
                      </a:pPr>
                      <a:r>
                        <a:rPr lang="en-IN" sz="1400" dirty="0"/>
                        <a:t>Part Affinity Fields</a:t>
                      </a:r>
                    </a:p>
                    <a:p>
                      <a:pPr>
                        <a:lnSpc>
                          <a:spcPct val="150000"/>
                        </a:lnSpc>
                      </a:pPr>
                      <a:endParaRPr lang="en-IN" sz="1400" dirty="0"/>
                    </a:p>
                    <a:p>
                      <a:pPr>
                        <a:lnSpc>
                          <a:spcPct val="150000"/>
                        </a:lnSpc>
                      </a:pPr>
                      <a:endParaRPr lang="en-IN" sz="1400" dirty="0"/>
                    </a:p>
                    <a:p>
                      <a:pPr>
                        <a:lnSpc>
                          <a:spcPct val="150000"/>
                        </a:lnSpc>
                      </a:pPr>
                      <a:endParaRPr lang="en-IN" sz="1400" dirty="0"/>
                    </a:p>
                    <a:p>
                      <a:pPr>
                        <a:lnSpc>
                          <a:spcPct val="150000"/>
                        </a:lnSpc>
                      </a:pPr>
                      <a:endParaRPr lang="en-IN" sz="1400" dirty="0"/>
                    </a:p>
                    <a:p>
                      <a:pPr>
                        <a:lnSpc>
                          <a:spcPct val="150000"/>
                        </a:lnSpc>
                      </a:pPr>
                      <a:r>
                        <a:rPr lang="en-IN" sz="1400" dirty="0" err="1"/>
                        <a:t>LogRF</a:t>
                      </a:r>
                      <a:r>
                        <a:rPr lang="en-IN" sz="1400" dirty="0"/>
                        <a:t> </a:t>
                      </a:r>
                    </a:p>
                  </a:txBody>
                  <a:tcPr/>
                </a:tc>
                <a:tc>
                  <a:txBody>
                    <a:bodyPr/>
                    <a:lstStyle/>
                    <a:p>
                      <a:pPr>
                        <a:lnSpc>
                          <a:spcPct val="150000"/>
                        </a:lnSpc>
                      </a:pPr>
                      <a:r>
                        <a:rPr lang="en-US" sz="1400" dirty="0"/>
                        <a:t>2014</a:t>
                      </a:r>
                    </a:p>
                    <a:p>
                      <a:pPr>
                        <a:lnSpc>
                          <a:spcPct val="150000"/>
                        </a:lnSpc>
                      </a:pPr>
                      <a:endParaRPr lang="en-US" sz="1400" dirty="0"/>
                    </a:p>
                    <a:p>
                      <a:pPr>
                        <a:lnSpc>
                          <a:spcPct val="150000"/>
                        </a:lnSpc>
                      </a:pPr>
                      <a:endParaRPr lang="en-US" sz="1400" dirty="0"/>
                    </a:p>
                    <a:p>
                      <a:pPr>
                        <a:lnSpc>
                          <a:spcPct val="150000"/>
                        </a:lnSpc>
                      </a:pPr>
                      <a:endParaRPr lang="en-US" sz="1400" dirty="0"/>
                    </a:p>
                    <a:p>
                      <a:pPr>
                        <a:lnSpc>
                          <a:spcPct val="150000"/>
                        </a:lnSpc>
                      </a:pPr>
                      <a:endParaRPr lang="en-IN" sz="1400" dirty="0"/>
                    </a:p>
                    <a:p>
                      <a:pPr>
                        <a:lnSpc>
                          <a:spcPct val="150000"/>
                        </a:lnSpc>
                      </a:pPr>
                      <a:r>
                        <a:rPr lang="en-IN" sz="1400" dirty="0"/>
                        <a:t>2017</a:t>
                      </a:r>
                    </a:p>
                    <a:p>
                      <a:pPr>
                        <a:lnSpc>
                          <a:spcPct val="150000"/>
                        </a:lnSpc>
                      </a:pPr>
                      <a:endParaRPr lang="en-IN" sz="1400" dirty="0"/>
                    </a:p>
                    <a:p>
                      <a:pPr>
                        <a:lnSpc>
                          <a:spcPct val="150000"/>
                        </a:lnSpc>
                      </a:pPr>
                      <a:endParaRPr lang="en-IN" sz="1400" dirty="0"/>
                    </a:p>
                    <a:p>
                      <a:pPr>
                        <a:lnSpc>
                          <a:spcPct val="150000"/>
                        </a:lnSpc>
                      </a:pPr>
                      <a:endParaRPr lang="en-IN" sz="1400" dirty="0"/>
                    </a:p>
                    <a:p>
                      <a:pPr>
                        <a:lnSpc>
                          <a:spcPct val="150000"/>
                        </a:lnSpc>
                      </a:pPr>
                      <a:endParaRPr lang="en-IN" sz="1400" dirty="0"/>
                    </a:p>
                    <a:p>
                      <a:pPr>
                        <a:lnSpc>
                          <a:spcPct val="150000"/>
                        </a:lnSpc>
                      </a:pPr>
                      <a:r>
                        <a:rPr lang="en-US" sz="1400" dirty="0"/>
                        <a:t>2023</a:t>
                      </a:r>
                      <a:endParaRPr lang="en-IN" sz="1400" dirty="0"/>
                    </a:p>
                  </a:txBody>
                  <a:tcPr/>
                </a:tc>
                <a:tc>
                  <a:txBody>
                    <a:bodyPr/>
                    <a:lstStyle/>
                    <a:p>
                      <a:pPr marL="0" indent="0" algn="ctr">
                        <a:lnSpc>
                          <a:spcPct val="150000"/>
                        </a:lnSpc>
                        <a:buNone/>
                      </a:pPr>
                      <a:r>
                        <a:rPr lang="en-IN" sz="1400" i="0" u="none" dirty="0"/>
                        <a:t>CVPR (IEEE)</a:t>
                      </a:r>
                    </a:p>
                    <a:p>
                      <a:pPr marL="0" indent="0" algn="ctr">
                        <a:lnSpc>
                          <a:spcPct val="150000"/>
                        </a:lnSpc>
                        <a:buNone/>
                      </a:pPr>
                      <a:endParaRPr lang="en-IN" sz="1400" i="0" u="none" dirty="0"/>
                    </a:p>
                    <a:p>
                      <a:pPr marL="0" indent="0" algn="ctr">
                        <a:lnSpc>
                          <a:spcPct val="150000"/>
                        </a:lnSpc>
                        <a:buNone/>
                      </a:pPr>
                      <a:endParaRPr lang="en-IN" sz="1400" i="0" u="none" dirty="0"/>
                    </a:p>
                    <a:p>
                      <a:pPr marL="0" indent="0" algn="ctr">
                        <a:lnSpc>
                          <a:spcPct val="150000"/>
                        </a:lnSpc>
                        <a:buNone/>
                      </a:pPr>
                      <a:endParaRPr lang="en-IN" sz="1400" i="0" u="none" dirty="0"/>
                    </a:p>
                    <a:p>
                      <a:pPr marL="0" marR="0" lvl="0" indent="0" algn="ctr" defTabSz="914400" rtl="0" eaLnBrk="1" fontAlgn="auto" latinLnBrk="0" hangingPunct="1">
                        <a:lnSpc>
                          <a:spcPct val="150000"/>
                        </a:lnSpc>
                        <a:spcBef>
                          <a:spcPts val="0"/>
                        </a:spcBef>
                        <a:spcAft>
                          <a:spcPts val="0"/>
                        </a:spcAft>
                        <a:buClrTx/>
                        <a:buSzTx/>
                        <a:buFontTx/>
                        <a:buNone/>
                        <a:tabLst/>
                        <a:defRPr/>
                      </a:pPr>
                      <a:endParaRPr lang="en-IN" sz="1400" i="0" u="none" dirty="0"/>
                    </a:p>
                    <a:p>
                      <a:pPr marL="0" marR="0" lvl="0" indent="0" algn="ctr" defTabSz="914400" rtl="0" eaLnBrk="1" fontAlgn="auto" latinLnBrk="0" hangingPunct="1">
                        <a:lnSpc>
                          <a:spcPct val="150000"/>
                        </a:lnSpc>
                        <a:spcBef>
                          <a:spcPts val="0"/>
                        </a:spcBef>
                        <a:spcAft>
                          <a:spcPts val="0"/>
                        </a:spcAft>
                        <a:buClrTx/>
                        <a:buSzTx/>
                        <a:buFontTx/>
                        <a:buNone/>
                        <a:tabLst/>
                        <a:defRPr/>
                      </a:pPr>
                      <a:r>
                        <a:rPr lang="en-IN" sz="1400" i="0" u="none" dirty="0"/>
                        <a:t>CVPR (IEEE)</a:t>
                      </a:r>
                      <a:endParaRPr lang="en-US" sz="1400" i="0" u="none" dirty="0"/>
                    </a:p>
                    <a:p>
                      <a:pPr marL="0" indent="0" algn="ctr">
                        <a:lnSpc>
                          <a:spcPct val="150000"/>
                        </a:lnSpc>
                        <a:buNone/>
                      </a:pPr>
                      <a:endParaRPr lang="en-US" sz="1400" i="0" u="none" dirty="0"/>
                    </a:p>
                    <a:p>
                      <a:pPr marL="0" indent="0" algn="ctr">
                        <a:lnSpc>
                          <a:spcPct val="150000"/>
                        </a:lnSpc>
                        <a:buNone/>
                      </a:pPr>
                      <a:endParaRPr lang="en-US" sz="1400" i="0" u="none" dirty="0"/>
                    </a:p>
                    <a:p>
                      <a:pPr marL="0" indent="0" algn="ctr">
                        <a:lnSpc>
                          <a:spcPct val="150000"/>
                        </a:lnSpc>
                        <a:buNone/>
                      </a:pPr>
                      <a:endParaRPr lang="en-US" sz="1400" i="0" u="none" dirty="0"/>
                    </a:p>
                    <a:p>
                      <a:pPr marL="0" indent="0" algn="ctr">
                        <a:lnSpc>
                          <a:spcPct val="150000"/>
                        </a:lnSpc>
                        <a:buNone/>
                      </a:pPr>
                      <a:r>
                        <a:rPr lang="en-US" sz="1400" i="0" u="none" dirty="0"/>
                        <a:t>Applied in Physiotherapy/</a:t>
                      </a:r>
                    </a:p>
                    <a:p>
                      <a:pPr marL="0" indent="0" algn="ctr">
                        <a:lnSpc>
                          <a:spcPct val="150000"/>
                        </a:lnSpc>
                        <a:buNone/>
                      </a:pPr>
                      <a:r>
                        <a:rPr lang="en-US" sz="1400" i="0" u="none"/>
                        <a:t>Fitness</a:t>
                      </a:r>
                      <a:endParaRPr lang="en-US" sz="1400" i="0" u="none" dirty="0"/>
                    </a:p>
                    <a:p>
                      <a:pPr marL="342900" indent="-342900" algn="ctr">
                        <a:lnSpc>
                          <a:spcPct val="150000"/>
                        </a:lnSpc>
                        <a:buAutoNum type="alphaUcPeriod"/>
                      </a:pPr>
                      <a:endParaRPr lang="en-US" sz="1400" dirty="0"/>
                    </a:p>
                    <a:p>
                      <a:pPr marL="0" indent="0" algn="ctr">
                        <a:lnSpc>
                          <a:spcPct val="150000"/>
                        </a:lnSpc>
                        <a:buNone/>
                      </a:pPr>
                      <a:endParaRPr lang="en-IN" sz="1400" dirty="0"/>
                    </a:p>
                  </a:txBody>
                  <a:tcPr/>
                </a:tc>
                <a:tc>
                  <a:txBody>
                    <a:bodyPr/>
                    <a:lstStyle/>
                    <a:p>
                      <a:pPr>
                        <a:lnSpc>
                          <a:spcPct val="150000"/>
                        </a:lnSpc>
                      </a:pPr>
                      <a:r>
                        <a:rPr lang="en-US" sz="1400" dirty="0"/>
                        <a:t>Showed deep learning can accurately estimate human joints. Foundation for rep counting systems.</a:t>
                      </a:r>
                    </a:p>
                    <a:p>
                      <a:pPr>
                        <a:lnSpc>
                          <a:spcPct val="150000"/>
                        </a:lnSpc>
                      </a:pPr>
                      <a:endParaRPr lang="en-US" sz="1400" dirty="0"/>
                    </a:p>
                    <a:p>
                      <a:pPr>
                        <a:lnSpc>
                          <a:spcPct val="150000"/>
                        </a:lnSpc>
                      </a:pPr>
                      <a:r>
                        <a:rPr lang="en-US" sz="1400" dirty="0"/>
                        <a:t>Developed Part Affinity Fields for real-time pose tracking. Essential for webcam fitness monitoring.</a:t>
                      </a:r>
                    </a:p>
                    <a:p>
                      <a:pPr>
                        <a:lnSpc>
                          <a:spcPct val="150000"/>
                        </a:lnSpc>
                      </a:pPr>
                      <a:endParaRPr lang="en-US" sz="1400" dirty="0"/>
                    </a:p>
                    <a:p>
                      <a:pPr>
                        <a:lnSpc>
                          <a:spcPct val="150000"/>
                        </a:lnSpc>
                      </a:pPr>
                      <a:r>
                        <a:rPr lang="en-US" sz="1400" dirty="0"/>
                        <a:t>Detected reps and incorrect form using skeleton landmarks. Useful in fitness and physiotherapy.</a:t>
                      </a:r>
                    </a:p>
                  </a:txBody>
                  <a:tcPr/>
                </a:tc>
                <a:extLst>
                  <a:ext uri="{0D108BD9-81ED-4DB2-BD59-A6C34878D82A}">
                    <a16:rowId xmlns:a16="http://schemas.microsoft.com/office/drawing/2014/main" val="3998672782"/>
                  </a:ext>
                </a:extLst>
              </a:tr>
            </a:tbl>
          </a:graphicData>
        </a:graphic>
      </p:graphicFrame>
      <p:sp>
        <p:nvSpPr>
          <p:cNvPr id="4" name="Footer Placeholder 3">
            <a:extLst>
              <a:ext uri="{FF2B5EF4-FFF2-40B4-BE49-F238E27FC236}">
                <a16:creationId xmlns:a16="http://schemas.microsoft.com/office/drawing/2014/main" id="{8FEB1930-5961-06BA-9BF9-0FC3F96FA322}"/>
              </a:ext>
            </a:extLst>
          </p:cNvPr>
          <p:cNvSpPr>
            <a:spLocks noGrp="1"/>
          </p:cNvSpPr>
          <p:nvPr>
            <p:ph type="ftr" sz="quarter" idx="11"/>
          </p:nvPr>
        </p:nvSpPr>
        <p:spPr>
          <a:xfrm>
            <a:off x="2590800" y="6450626"/>
            <a:ext cx="3962400" cy="365125"/>
          </a:xfrm>
        </p:spPr>
        <p:txBody>
          <a:bodyPr/>
          <a:lstStyle/>
          <a:p>
            <a:r>
              <a:rPr lang="en-US" dirty="0"/>
              <a:t>DEPARTMENT OF COMPUTER SCIENCE AND ENGINEERING </a:t>
            </a:r>
          </a:p>
        </p:txBody>
      </p:sp>
    </p:spTree>
    <p:extLst>
      <p:ext uri="{BB962C8B-B14F-4D97-AF65-F5344CB8AC3E}">
        <p14:creationId xmlns:p14="http://schemas.microsoft.com/office/powerpoint/2010/main" val="753461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D2E36-2645-2144-1935-D3393B165094}"/>
              </a:ext>
            </a:extLst>
          </p:cNvPr>
          <p:cNvSpPr>
            <a:spLocks noGrp="1"/>
          </p:cNvSpPr>
          <p:nvPr>
            <p:ph type="title"/>
          </p:nvPr>
        </p:nvSpPr>
        <p:spPr/>
        <p:txBody>
          <a:bodyPr/>
          <a:lstStyle/>
          <a:p>
            <a:r>
              <a:rPr lang="en-US" dirty="0"/>
              <a:t>Literature Survey</a:t>
            </a:r>
            <a:endParaRPr lang="en-IN" dirty="0"/>
          </a:p>
        </p:txBody>
      </p:sp>
      <p:graphicFrame>
        <p:nvGraphicFramePr>
          <p:cNvPr id="6" name="Content Placeholder 5">
            <a:extLst>
              <a:ext uri="{FF2B5EF4-FFF2-40B4-BE49-F238E27FC236}">
                <a16:creationId xmlns:a16="http://schemas.microsoft.com/office/drawing/2014/main" id="{642BB1BB-4DFC-1022-5934-BF3FE44251CA}"/>
              </a:ext>
            </a:extLst>
          </p:cNvPr>
          <p:cNvGraphicFramePr>
            <a:graphicFrameLocks noGrp="1"/>
          </p:cNvGraphicFramePr>
          <p:nvPr>
            <p:ph idx="1"/>
            <p:extLst>
              <p:ext uri="{D42A27DB-BD31-4B8C-83A1-F6EECF244321}">
                <p14:modId xmlns:p14="http://schemas.microsoft.com/office/powerpoint/2010/main" val="1319305989"/>
              </p:ext>
            </p:extLst>
          </p:nvPr>
        </p:nvGraphicFramePr>
        <p:xfrm>
          <a:off x="304800" y="1295400"/>
          <a:ext cx="8458199" cy="5048660"/>
        </p:xfrm>
        <a:graphic>
          <a:graphicData uri="http://schemas.openxmlformats.org/drawingml/2006/table">
            <a:tbl>
              <a:tblPr firstRow="1" bandRow="1">
                <a:tableStyleId>{5C22544A-7EE6-4342-B048-85BDC9FD1C3A}</a:tableStyleId>
              </a:tblPr>
              <a:tblGrid>
                <a:gridCol w="1152172">
                  <a:extLst>
                    <a:ext uri="{9D8B030D-6E8A-4147-A177-3AD203B41FA5}">
                      <a16:colId xmlns:a16="http://schemas.microsoft.com/office/drawing/2014/main" val="776772180"/>
                    </a:ext>
                  </a:extLst>
                </a:gridCol>
                <a:gridCol w="1845733">
                  <a:extLst>
                    <a:ext uri="{9D8B030D-6E8A-4147-A177-3AD203B41FA5}">
                      <a16:colId xmlns:a16="http://schemas.microsoft.com/office/drawing/2014/main" val="3154612078"/>
                    </a:ext>
                  </a:extLst>
                </a:gridCol>
                <a:gridCol w="1269295">
                  <a:extLst>
                    <a:ext uri="{9D8B030D-6E8A-4147-A177-3AD203B41FA5}">
                      <a16:colId xmlns:a16="http://schemas.microsoft.com/office/drawing/2014/main" val="495957945"/>
                    </a:ext>
                  </a:extLst>
                </a:gridCol>
                <a:gridCol w="1883832">
                  <a:extLst>
                    <a:ext uri="{9D8B030D-6E8A-4147-A177-3AD203B41FA5}">
                      <a16:colId xmlns:a16="http://schemas.microsoft.com/office/drawing/2014/main" val="29885805"/>
                    </a:ext>
                  </a:extLst>
                </a:gridCol>
                <a:gridCol w="2307167">
                  <a:extLst>
                    <a:ext uri="{9D8B030D-6E8A-4147-A177-3AD203B41FA5}">
                      <a16:colId xmlns:a16="http://schemas.microsoft.com/office/drawing/2014/main" val="1907400612"/>
                    </a:ext>
                  </a:extLst>
                </a:gridCol>
              </a:tblGrid>
              <a:tr h="1503194">
                <a:tc>
                  <a:txBody>
                    <a:bodyPr/>
                    <a:lstStyle/>
                    <a:p>
                      <a:r>
                        <a:rPr lang="en-US" dirty="0" err="1"/>
                        <a:t>S.No</a:t>
                      </a:r>
                      <a:endParaRPr lang="en-IN" dirty="0"/>
                    </a:p>
                  </a:txBody>
                  <a:tcPr/>
                </a:tc>
                <a:tc>
                  <a:txBody>
                    <a:bodyPr/>
                    <a:lstStyle/>
                    <a:p>
                      <a:r>
                        <a:rPr lang="en-US" dirty="0"/>
                        <a:t>Title of project</a:t>
                      </a:r>
                      <a:endParaRPr lang="en-IN" dirty="0"/>
                    </a:p>
                  </a:txBody>
                  <a:tcPr/>
                </a:tc>
                <a:tc>
                  <a:txBody>
                    <a:bodyPr/>
                    <a:lstStyle/>
                    <a:p>
                      <a:r>
                        <a:rPr lang="en-US" dirty="0"/>
                        <a:t>Year</a:t>
                      </a:r>
                      <a:endParaRPr lang="en-IN" dirty="0"/>
                    </a:p>
                  </a:txBody>
                  <a:tcPr/>
                </a:tc>
                <a:tc>
                  <a:txBody>
                    <a:bodyPr/>
                    <a:lstStyle/>
                    <a:p>
                      <a:r>
                        <a:rPr lang="en-US" dirty="0"/>
                        <a:t>Journal/ Conference name</a:t>
                      </a:r>
                      <a:endParaRPr lang="en-IN" dirty="0"/>
                    </a:p>
                  </a:txBody>
                  <a:tcPr/>
                </a:tc>
                <a:tc>
                  <a:txBody>
                    <a:bodyPr/>
                    <a:lstStyle/>
                    <a:p>
                      <a:r>
                        <a:rPr lang="en-US" dirty="0"/>
                        <a:t>Inference</a:t>
                      </a:r>
                      <a:endParaRPr lang="en-IN" dirty="0"/>
                    </a:p>
                  </a:txBody>
                  <a:tcPr/>
                </a:tc>
                <a:extLst>
                  <a:ext uri="{0D108BD9-81ED-4DB2-BD59-A6C34878D82A}">
                    <a16:rowId xmlns:a16="http://schemas.microsoft.com/office/drawing/2014/main" val="2938518525"/>
                  </a:ext>
                </a:extLst>
              </a:tr>
              <a:tr h="3545466">
                <a:tc>
                  <a:txBody>
                    <a:bodyPr/>
                    <a:lstStyle/>
                    <a:p>
                      <a:pPr>
                        <a:lnSpc>
                          <a:spcPct val="150000"/>
                        </a:lnSpc>
                      </a:pPr>
                      <a:endParaRPr lang="en-US" sz="1400" dirty="0"/>
                    </a:p>
                    <a:p>
                      <a:pPr>
                        <a:lnSpc>
                          <a:spcPct val="150000"/>
                        </a:lnSpc>
                      </a:pPr>
                      <a:r>
                        <a:rPr lang="en-IN" sz="1400" dirty="0"/>
                        <a:t>4.</a:t>
                      </a:r>
                    </a:p>
                    <a:p>
                      <a:pPr>
                        <a:lnSpc>
                          <a:spcPct val="150000"/>
                        </a:lnSpc>
                      </a:pPr>
                      <a:endParaRPr lang="en-IN" sz="1400" dirty="0"/>
                    </a:p>
                    <a:p>
                      <a:pPr>
                        <a:lnSpc>
                          <a:spcPct val="150000"/>
                        </a:lnSpc>
                      </a:pPr>
                      <a:endParaRPr lang="en-IN" sz="1400" dirty="0"/>
                    </a:p>
                    <a:p>
                      <a:pPr>
                        <a:lnSpc>
                          <a:spcPct val="150000"/>
                        </a:lnSpc>
                      </a:pPr>
                      <a:endParaRPr lang="en-IN" sz="1400" dirty="0"/>
                    </a:p>
                    <a:p>
                      <a:pPr>
                        <a:lnSpc>
                          <a:spcPct val="150000"/>
                        </a:lnSpc>
                      </a:pPr>
                      <a:r>
                        <a:rPr lang="en-IN" sz="1400" dirty="0"/>
                        <a:t>5.</a:t>
                      </a:r>
                    </a:p>
                  </a:txBody>
                  <a:tcPr/>
                </a:tc>
                <a:tc>
                  <a:txBody>
                    <a:bodyPr/>
                    <a:lstStyle/>
                    <a:p>
                      <a:pPr>
                        <a:lnSpc>
                          <a:spcPct val="150000"/>
                        </a:lnSpc>
                      </a:pPr>
                      <a:r>
                        <a:rPr lang="en-US" sz="1400" dirty="0"/>
                        <a:t>Human pose estimation and its application</a:t>
                      </a:r>
                    </a:p>
                    <a:p>
                      <a:pPr>
                        <a:lnSpc>
                          <a:spcPct val="150000"/>
                        </a:lnSpc>
                      </a:pPr>
                      <a:endParaRPr lang="en-US" sz="1400" dirty="0"/>
                    </a:p>
                    <a:p>
                      <a:pPr>
                        <a:lnSpc>
                          <a:spcPct val="150000"/>
                        </a:lnSpc>
                      </a:pPr>
                      <a:endParaRPr lang="en-US" sz="1400" dirty="0"/>
                    </a:p>
                    <a:p>
                      <a:pPr>
                        <a:lnSpc>
                          <a:spcPct val="150000"/>
                        </a:lnSpc>
                      </a:pPr>
                      <a:r>
                        <a:rPr lang="en-US" sz="1400" dirty="0"/>
                        <a:t>Introduced 3D pose recovery from monocular images. </a:t>
                      </a:r>
                    </a:p>
                  </a:txBody>
                  <a:tcPr/>
                </a:tc>
                <a:tc>
                  <a:txBody>
                    <a:bodyPr/>
                    <a:lstStyle/>
                    <a:p>
                      <a:pPr>
                        <a:lnSpc>
                          <a:spcPct val="150000"/>
                        </a:lnSpc>
                      </a:pPr>
                      <a:r>
                        <a:rPr lang="en-US" sz="1400" dirty="0"/>
                        <a:t>2021</a:t>
                      </a:r>
                    </a:p>
                    <a:p>
                      <a:pPr>
                        <a:lnSpc>
                          <a:spcPct val="150000"/>
                        </a:lnSpc>
                      </a:pPr>
                      <a:endParaRPr lang="en-US" sz="1400" dirty="0"/>
                    </a:p>
                    <a:p>
                      <a:pPr>
                        <a:lnSpc>
                          <a:spcPct val="150000"/>
                        </a:lnSpc>
                      </a:pPr>
                      <a:endParaRPr lang="en-US" sz="1400" dirty="0"/>
                    </a:p>
                    <a:p>
                      <a:pPr>
                        <a:lnSpc>
                          <a:spcPct val="150000"/>
                        </a:lnSpc>
                      </a:pPr>
                      <a:endParaRPr lang="en-US" sz="1400" dirty="0"/>
                    </a:p>
                    <a:p>
                      <a:pPr>
                        <a:lnSpc>
                          <a:spcPct val="150000"/>
                        </a:lnSpc>
                      </a:pPr>
                      <a:endParaRPr lang="en-US" sz="1400" dirty="0"/>
                    </a:p>
                    <a:p>
                      <a:pPr>
                        <a:lnSpc>
                          <a:spcPct val="150000"/>
                        </a:lnSpc>
                      </a:pPr>
                      <a:endParaRPr lang="en-US" sz="1400" dirty="0"/>
                    </a:p>
                    <a:p>
                      <a:pPr>
                        <a:lnSpc>
                          <a:spcPct val="150000"/>
                        </a:lnSpc>
                      </a:pPr>
                      <a:r>
                        <a:rPr lang="en-US" sz="1400" dirty="0"/>
                        <a:t>2006</a:t>
                      </a:r>
                      <a:endParaRPr lang="en-IN" sz="1400" dirty="0"/>
                    </a:p>
                  </a:txBody>
                  <a:tcPr/>
                </a:tc>
                <a:tc>
                  <a:txBody>
                    <a:bodyPr/>
                    <a:lstStyle/>
                    <a:p>
                      <a:pPr>
                        <a:lnSpc>
                          <a:spcPct val="150000"/>
                        </a:lnSpc>
                      </a:pPr>
                      <a:r>
                        <a:rPr lang="en-IN" sz="1400" dirty="0"/>
                        <a:t>ACM Computing Surveys</a:t>
                      </a:r>
                    </a:p>
                    <a:p>
                      <a:pPr>
                        <a:lnSpc>
                          <a:spcPct val="150000"/>
                        </a:lnSpc>
                      </a:pPr>
                      <a:endParaRPr lang="en-IN" sz="1400" dirty="0"/>
                    </a:p>
                    <a:p>
                      <a:pPr>
                        <a:lnSpc>
                          <a:spcPct val="150000"/>
                        </a:lnSpc>
                      </a:pPr>
                      <a:endParaRPr lang="en-IN" sz="1400" dirty="0"/>
                    </a:p>
                    <a:p>
                      <a:pPr>
                        <a:lnSpc>
                          <a:spcPct val="150000"/>
                        </a:lnSpc>
                      </a:pPr>
                      <a:endParaRPr lang="en-IN" sz="1400" dirty="0"/>
                    </a:p>
                    <a:p>
                      <a:pPr>
                        <a:lnSpc>
                          <a:spcPct val="150000"/>
                        </a:lnSpc>
                      </a:pPr>
                      <a:r>
                        <a:rPr lang="en-IN" sz="1400" i="0" dirty="0"/>
                        <a:t>IEEE Transactions on Pattern Analysis &amp; Machine Intelligence (TPAMI)</a:t>
                      </a:r>
                    </a:p>
                  </a:txBody>
                  <a:tcPr/>
                </a:tc>
                <a:tc>
                  <a:txBody>
                    <a:bodyPr/>
                    <a:lstStyle/>
                    <a:p>
                      <a:pPr>
                        <a:lnSpc>
                          <a:spcPct val="150000"/>
                        </a:lnSpc>
                      </a:pPr>
                      <a:r>
                        <a:rPr lang="en-US" sz="1400" dirty="0"/>
                        <a:t>Reviewed major pose estimation methods. Highlighted applications in action and exercise tracking.</a:t>
                      </a:r>
                    </a:p>
                    <a:p>
                      <a:pPr>
                        <a:lnSpc>
                          <a:spcPct val="150000"/>
                        </a:lnSpc>
                      </a:pPr>
                      <a:endParaRPr lang="en-US" sz="1400" dirty="0"/>
                    </a:p>
                    <a:p>
                      <a:pPr>
                        <a:lnSpc>
                          <a:spcPct val="150000"/>
                        </a:lnSpc>
                      </a:pPr>
                      <a:r>
                        <a:rPr lang="en-US" sz="1400" dirty="0"/>
                        <a:t>Developed 3D pose recovery from monocular images. Improved angle precision in exercise tracking.</a:t>
                      </a:r>
                      <a:endParaRPr lang="en-IN" sz="1400" dirty="0"/>
                    </a:p>
                  </a:txBody>
                  <a:tcPr/>
                </a:tc>
                <a:extLst>
                  <a:ext uri="{0D108BD9-81ED-4DB2-BD59-A6C34878D82A}">
                    <a16:rowId xmlns:a16="http://schemas.microsoft.com/office/drawing/2014/main" val="3974685674"/>
                  </a:ext>
                </a:extLst>
              </a:tr>
            </a:tbl>
          </a:graphicData>
        </a:graphic>
      </p:graphicFrame>
      <p:sp>
        <p:nvSpPr>
          <p:cNvPr id="4" name="Footer Placeholder 3">
            <a:extLst>
              <a:ext uri="{FF2B5EF4-FFF2-40B4-BE49-F238E27FC236}">
                <a16:creationId xmlns:a16="http://schemas.microsoft.com/office/drawing/2014/main" id="{143AB1F9-7A7B-D7FA-5369-749E4BDF17B0}"/>
              </a:ext>
            </a:extLst>
          </p:cNvPr>
          <p:cNvSpPr>
            <a:spLocks noGrp="1"/>
          </p:cNvSpPr>
          <p:nvPr>
            <p:ph type="ftr" sz="quarter" idx="11"/>
          </p:nvPr>
        </p:nvSpPr>
        <p:spPr>
          <a:xfrm>
            <a:off x="2362199" y="6400799"/>
            <a:ext cx="4343400" cy="365125"/>
          </a:xfrm>
        </p:spPr>
        <p:txBody>
          <a:bodyPr/>
          <a:lstStyle/>
          <a:p>
            <a:r>
              <a:rPr lang="en-US" dirty="0"/>
              <a:t>DEPARTMENT OF COMPUTER SCIENCE AND ENGINEERING</a:t>
            </a:r>
          </a:p>
        </p:txBody>
      </p:sp>
    </p:spTree>
    <p:extLst>
      <p:ext uri="{BB962C8B-B14F-4D97-AF65-F5344CB8AC3E}">
        <p14:creationId xmlns:p14="http://schemas.microsoft.com/office/powerpoint/2010/main" val="2089347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2C633-3A56-9D1B-9BE6-6DCCF1DBB674}"/>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DF83693C-A22F-A053-BB95-398197301E1B}"/>
              </a:ext>
            </a:extLst>
          </p:cNvPr>
          <p:cNvSpPr>
            <a:spLocks noGrp="1"/>
          </p:cNvSpPr>
          <p:nvPr>
            <p:ph idx="1"/>
          </p:nvPr>
        </p:nvSpPr>
        <p:spPr>
          <a:xfrm>
            <a:off x="685800" y="1219200"/>
            <a:ext cx="8001000" cy="4953000"/>
          </a:xfrm>
        </p:spPr>
        <p:txBody>
          <a:bodyPr>
            <a:noAutofit/>
          </a:bodyPr>
          <a:lstStyle/>
          <a:p>
            <a:pPr algn="just">
              <a:lnSpc>
                <a:spcPct val="150000"/>
              </a:lnSpc>
            </a:pPr>
            <a:r>
              <a:rPr lang="en-US" sz="2200" dirty="0"/>
              <a:t>Manual workout tracking is often inaccurate and unreliable.</a:t>
            </a:r>
          </a:p>
          <a:p>
            <a:pPr algn="just">
              <a:lnSpc>
                <a:spcPct val="150000"/>
              </a:lnSpc>
            </a:pPr>
            <a:r>
              <a:rPr lang="en-US" sz="2200" dirty="0"/>
              <a:t>Existing fitness monitoring solutions rely heavily on expensive wearables or gym equipment.</a:t>
            </a:r>
          </a:p>
          <a:p>
            <a:pPr algn="just">
              <a:lnSpc>
                <a:spcPct val="150000"/>
              </a:lnSpc>
            </a:pPr>
            <a:r>
              <a:rPr lang="en-US" sz="2200" dirty="0"/>
              <a:t>Lack of affordable, camera-based real-time exercise tracking systems for home users.</a:t>
            </a:r>
          </a:p>
          <a:p>
            <a:pPr algn="just">
              <a:lnSpc>
                <a:spcPct val="150000"/>
              </a:lnSpc>
            </a:pPr>
            <a:r>
              <a:rPr lang="en-US" sz="2200" dirty="0"/>
              <a:t>No integrated solution that combines exercise detection, calorie estimation, and report generation.</a:t>
            </a:r>
          </a:p>
          <a:p>
            <a:pPr algn="just">
              <a:lnSpc>
                <a:spcPct val="150000"/>
              </a:lnSpc>
            </a:pPr>
            <a:r>
              <a:rPr lang="en-US" sz="2200" dirty="0"/>
              <a:t>Difficulty in maintaining consistent workout records and progress tracking without automation.</a:t>
            </a:r>
          </a:p>
        </p:txBody>
      </p:sp>
      <p:sp>
        <p:nvSpPr>
          <p:cNvPr id="4" name="Footer Placeholder 3">
            <a:extLst>
              <a:ext uri="{FF2B5EF4-FFF2-40B4-BE49-F238E27FC236}">
                <a16:creationId xmlns:a16="http://schemas.microsoft.com/office/drawing/2014/main" id="{B5CDC233-C19C-DFC1-5F9C-0323A3364840}"/>
              </a:ext>
            </a:extLst>
          </p:cNvPr>
          <p:cNvSpPr>
            <a:spLocks noGrp="1"/>
          </p:cNvSpPr>
          <p:nvPr>
            <p:ph type="ftr" sz="quarter" idx="11"/>
          </p:nvPr>
        </p:nvSpPr>
        <p:spPr>
          <a:xfrm>
            <a:off x="2895600" y="6400799"/>
            <a:ext cx="3886200" cy="365125"/>
          </a:xfrm>
        </p:spPr>
        <p:txBody>
          <a:bodyPr/>
          <a:lstStyle/>
          <a:p>
            <a:r>
              <a:rPr lang="en-US" dirty="0"/>
              <a:t>DEPARTMENT OF COMPUTER SCIENCE AND ENGINEERING</a:t>
            </a:r>
          </a:p>
        </p:txBody>
      </p:sp>
    </p:spTree>
    <p:extLst>
      <p:ext uri="{BB962C8B-B14F-4D97-AF65-F5344CB8AC3E}">
        <p14:creationId xmlns:p14="http://schemas.microsoft.com/office/powerpoint/2010/main" val="2138774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715962"/>
          </a:xfrm>
        </p:spPr>
        <p:txBody>
          <a:bodyPr>
            <a:normAutofit fontScale="90000"/>
          </a:bodyPr>
          <a:lstStyle/>
          <a:p>
            <a:r>
              <a:rPr lang="en-US" dirty="0"/>
              <a:t>Objective</a:t>
            </a:r>
          </a:p>
        </p:txBody>
      </p:sp>
      <p:sp>
        <p:nvSpPr>
          <p:cNvPr id="3" name="Content Placeholder 2"/>
          <p:cNvSpPr>
            <a:spLocks noGrp="1"/>
          </p:cNvSpPr>
          <p:nvPr>
            <p:ph idx="1"/>
          </p:nvPr>
        </p:nvSpPr>
        <p:spPr>
          <a:xfrm>
            <a:off x="533400" y="944562"/>
            <a:ext cx="8229600" cy="5303838"/>
          </a:xfrm>
        </p:spPr>
        <p:txBody>
          <a:bodyPr>
            <a:noAutofit/>
          </a:bodyPr>
          <a:lstStyle/>
          <a:p>
            <a:pPr algn="just">
              <a:lnSpc>
                <a:spcPct val="150000"/>
              </a:lnSpc>
            </a:pPr>
            <a:r>
              <a:rPr lang="en-US" sz="2200" dirty="0"/>
              <a:t>To develop a real-time system for detecting and counting squats and bicep curls using pose estimation.</a:t>
            </a:r>
          </a:p>
          <a:p>
            <a:pPr algn="just">
              <a:lnSpc>
                <a:spcPct val="150000"/>
              </a:lnSpc>
            </a:pPr>
            <a:r>
              <a:rPr lang="en-US" sz="2200" dirty="0"/>
              <a:t>To provide live feedback with exercise counts, calorie tracking, and user details displayed on the screen.</a:t>
            </a:r>
          </a:p>
          <a:p>
            <a:pPr algn="just"/>
            <a:r>
              <a:rPr lang="en-US" sz="2200" dirty="0"/>
              <a:t>To log workout data in CSV format and generate a detailed PDF summary report.</a:t>
            </a:r>
          </a:p>
          <a:p>
            <a:pPr algn="just">
              <a:lnSpc>
                <a:spcPct val="150000"/>
              </a:lnSpc>
            </a:pPr>
            <a:r>
              <a:rPr lang="en-US" sz="2200" dirty="0"/>
              <a:t>To visualize workout progress through graphs for better performance analysis.</a:t>
            </a:r>
          </a:p>
          <a:p>
            <a:pPr algn="just">
              <a:lnSpc>
                <a:spcPct val="150000"/>
              </a:lnSpc>
            </a:pPr>
            <a:r>
              <a:rPr lang="en-US" sz="2200" dirty="0"/>
              <a:t>To integrate email automation for sending workout reports directly to the user.</a:t>
            </a:r>
          </a:p>
        </p:txBody>
      </p:sp>
      <p:sp>
        <p:nvSpPr>
          <p:cNvPr id="4" name="Footer Placeholder 3"/>
          <p:cNvSpPr>
            <a:spLocks noGrp="1"/>
          </p:cNvSpPr>
          <p:nvPr>
            <p:ph type="ftr" sz="quarter" idx="11"/>
          </p:nvPr>
        </p:nvSpPr>
        <p:spPr>
          <a:xfrm>
            <a:off x="381000" y="6356351"/>
            <a:ext cx="8305800" cy="273049"/>
          </a:xfrm>
        </p:spPr>
        <p:txBody>
          <a:bodyPr/>
          <a:lstStyle/>
          <a:p>
            <a:r>
              <a:rPr lang="en-US" dirty="0"/>
              <a:t>DEPARTMENT OF COMPUTER SCIENCE AND ENGINEERING</a:t>
            </a:r>
          </a:p>
        </p:txBody>
      </p:sp>
    </p:spTree>
    <p:extLst>
      <p:ext uri="{BB962C8B-B14F-4D97-AF65-F5344CB8AC3E}">
        <p14:creationId xmlns:p14="http://schemas.microsoft.com/office/powerpoint/2010/main" val="2638758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METHODOLOGY</a:t>
            </a:r>
          </a:p>
        </p:txBody>
      </p:sp>
      <p:sp>
        <p:nvSpPr>
          <p:cNvPr id="3" name="Content Placeholder 2"/>
          <p:cNvSpPr>
            <a:spLocks noGrp="1"/>
          </p:cNvSpPr>
          <p:nvPr>
            <p:ph idx="1"/>
          </p:nvPr>
        </p:nvSpPr>
        <p:spPr>
          <a:xfrm>
            <a:off x="457200" y="1447135"/>
            <a:ext cx="8229600" cy="4525963"/>
          </a:xfrm>
        </p:spPr>
        <p:txBody>
          <a:bodyPr>
            <a:noAutofit/>
          </a:bodyPr>
          <a:lstStyle/>
          <a:p>
            <a:pPr marL="0" indent="0" algn="just">
              <a:lnSpc>
                <a:spcPct val="170000"/>
              </a:lnSpc>
              <a:buNone/>
            </a:pPr>
            <a:r>
              <a:rPr lang="en-IN" sz="1600" dirty="0"/>
              <a:t>The system captures real-time video streams from an IP webcam to monitor and </a:t>
            </a:r>
            <a:r>
              <a:rPr lang="en-IN" sz="1600" dirty="0" err="1"/>
              <a:t>analyze</a:t>
            </a:r>
            <a:r>
              <a:rPr lang="en-IN" sz="1600" dirty="0"/>
              <a:t> exercise movements. The captured frames are </a:t>
            </a:r>
            <a:r>
              <a:rPr lang="en-IN" sz="1600" dirty="0" err="1"/>
              <a:t>preprocessed</a:t>
            </a:r>
            <a:r>
              <a:rPr lang="en-IN" sz="1600" dirty="0"/>
              <a:t> by resizing, noise reduction, and normalization to ensure consistent input quality. A real-time pose estimation model such as </a:t>
            </a:r>
            <a:r>
              <a:rPr lang="en-IN" sz="1600" dirty="0" err="1"/>
              <a:t>MediaPipe</a:t>
            </a:r>
            <a:r>
              <a:rPr lang="en-IN" sz="1600" dirty="0"/>
              <a:t> or </a:t>
            </a:r>
            <a:r>
              <a:rPr lang="en-IN" sz="1600" dirty="0" err="1"/>
              <a:t>OpenPose</a:t>
            </a:r>
            <a:r>
              <a:rPr lang="en-IN" sz="1600" dirty="0"/>
              <a:t> is then applied to extract human body </a:t>
            </a:r>
            <a:r>
              <a:rPr lang="en-IN" sz="1600" dirty="0" err="1"/>
              <a:t>keypoints</a:t>
            </a:r>
            <a:r>
              <a:rPr lang="en-IN" sz="1600" dirty="0"/>
              <a:t> and joint coordinates. These </a:t>
            </a:r>
            <a:r>
              <a:rPr lang="en-IN" sz="1600" dirty="0" err="1"/>
              <a:t>keypoints</a:t>
            </a:r>
            <a:r>
              <a:rPr lang="en-IN" sz="1600" dirty="0"/>
              <a:t> are </a:t>
            </a:r>
            <a:r>
              <a:rPr lang="en-IN" sz="1600" dirty="0" err="1"/>
              <a:t>analyzed</a:t>
            </a:r>
            <a:r>
              <a:rPr lang="en-IN" sz="1600" dirty="0"/>
              <a:t> to identify the type of exercise being performed using pattern recognition or machine learning classifiers. Once the exercise type is recognized, the system tracks the motion of key joints, calculates angles, and detects repetitions based on changes in posture and movement cycles. Repetition counting is achieved through threshold-based logic or temporal pattern analysis to ensure accurate tracking. The results, including live repetition count and posture feedback, are displayed on screen in real time, providing visual and audio cues to guide the user.</a:t>
            </a:r>
          </a:p>
        </p:txBody>
      </p:sp>
      <p:sp>
        <p:nvSpPr>
          <p:cNvPr id="4" name="Footer Placeholder 3"/>
          <p:cNvSpPr>
            <a:spLocks noGrp="1"/>
          </p:cNvSpPr>
          <p:nvPr>
            <p:ph type="ftr" sz="quarter" idx="11"/>
          </p:nvPr>
        </p:nvSpPr>
        <p:spPr>
          <a:xfrm>
            <a:off x="2590800" y="6400799"/>
            <a:ext cx="4343400" cy="365125"/>
          </a:xfrm>
        </p:spPr>
        <p:txBody>
          <a:bodyPr/>
          <a:lstStyle/>
          <a:p>
            <a:r>
              <a:rPr lang="en-US" dirty="0"/>
              <a:t>DEPARTMENT OF COMPUTER SCIENCE AND ENGINEERING</a:t>
            </a:r>
          </a:p>
        </p:txBody>
      </p:sp>
    </p:spTree>
    <p:extLst>
      <p:ext uri="{BB962C8B-B14F-4D97-AF65-F5344CB8AC3E}">
        <p14:creationId xmlns:p14="http://schemas.microsoft.com/office/powerpoint/2010/main" val="2333716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4676-942D-2806-14C4-6C31CB61E340}"/>
              </a:ext>
            </a:extLst>
          </p:cNvPr>
          <p:cNvSpPr>
            <a:spLocks noGrp="1"/>
          </p:cNvSpPr>
          <p:nvPr>
            <p:ph type="title"/>
          </p:nvPr>
        </p:nvSpPr>
        <p:spPr>
          <a:xfrm>
            <a:off x="446810" y="161085"/>
            <a:ext cx="8229600" cy="1143000"/>
          </a:xfrm>
        </p:spPr>
        <p:txBody>
          <a:bodyPr/>
          <a:lstStyle/>
          <a:p>
            <a:r>
              <a:rPr lang="en-IN" dirty="0"/>
              <a:t>Proposed Work</a:t>
            </a:r>
          </a:p>
        </p:txBody>
      </p:sp>
      <p:sp>
        <p:nvSpPr>
          <p:cNvPr id="4" name="Footer Placeholder 3">
            <a:extLst>
              <a:ext uri="{FF2B5EF4-FFF2-40B4-BE49-F238E27FC236}">
                <a16:creationId xmlns:a16="http://schemas.microsoft.com/office/drawing/2014/main" id="{223B7043-E43B-556A-CEF6-CBE0359A2436}"/>
              </a:ext>
            </a:extLst>
          </p:cNvPr>
          <p:cNvSpPr>
            <a:spLocks noGrp="1"/>
          </p:cNvSpPr>
          <p:nvPr>
            <p:ph type="ftr" sz="quarter" idx="11"/>
          </p:nvPr>
        </p:nvSpPr>
        <p:spPr>
          <a:xfrm>
            <a:off x="2590800" y="6331790"/>
            <a:ext cx="4114800" cy="365125"/>
          </a:xfrm>
        </p:spPr>
        <p:txBody>
          <a:bodyPr/>
          <a:lstStyle/>
          <a:p>
            <a:r>
              <a:rPr lang="en-US" dirty="0"/>
              <a:t>DEPARTMENT OF COMPUTER SCIENCE AND ENGINEERING</a:t>
            </a:r>
          </a:p>
        </p:txBody>
      </p:sp>
      <p:sp>
        <p:nvSpPr>
          <p:cNvPr id="6" name="Rectangle 2">
            <a:extLst>
              <a:ext uri="{FF2B5EF4-FFF2-40B4-BE49-F238E27FC236}">
                <a16:creationId xmlns:a16="http://schemas.microsoft.com/office/drawing/2014/main" id="{E64A04BF-2D1A-170B-1657-7FBF49D1F256}"/>
              </a:ext>
            </a:extLst>
          </p:cNvPr>
          <p:cNvSpPr>
            <a:spLocks noGrp="1" noChangeArrowheads="1"/>
          </p:cNvSpPr>
          <p:nvPr>
            <p:ph idx="1"/>
          </p:nvPr>
        </p:nvSpPr>
        <p:spPr bwMode="auto">
          <a:xfrm>
            <a:off x="685800" y="1066800"/>
            <a:ext cx="7924800" cy="5118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Implement a webcam-based system to capture real-time exercise movements.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Use </a:t>
            </a:r>
            <a:r>
              <a:rPr kumimoji="0" lang="en-US" altLang="en-US" sz="2200" b="0" i="0" u="none" strike="noStrike" cap="none" normalizeH="0" baseline="0" dirty="0" err="1">
                <a:ln>
                  <a:noFill/>
                </a:ln>
                <a:solidFill>
                  <a:schemeClr val="tx1"/>
                </a:solidFill>
                <a:effectLst/>
              </a:rPr>
              <a:t>MediaPipe</a:t>
            </a:r>
            <a:r>
              <a:rPr kumimoji="0" lang="en-US" altLang="en-US" sz="2200" b="0" i="0" u="none" strike="noStrike" cap="none" normalizeH="0" baseline="0" dirty="0">
                <a:ln>
                  <a:noFill/>
                </a:ln>
                <a:solidFill>
                  <a:schemeClr val="tx1"/>
                </a:solidFill>
                <a:effectLst/>
              </a:rPr>
              <a:t> and OpenCV to detect body landmarks and calculate joint angles.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Apply threshold-based logic to identify and count squats and bicep curls accurately.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Generate workout logs (CSV), PDF summary reports, and graph visualizations for progress tracking.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Integrate email automation to deliver workout reports directly to the user.</a:t>
            </a:r>
          </a:p>
        </p:txBody>
      </p:sp>
    </p:spTree>
    <p:extLst>
      <p:ext uri="{BB962C8B-B14F-4D97-AF65-F5344CB8AC3E}">
        <p14:creationId xmlns:p14="http://schemas.microsoft.com/office/powerpoint/2010/main" val="642238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0ECA-B551-1B89-4D75-4C376F474168}"/>
              </a:ext>
            </a:extLst>
          </p:cNvPr>
          <p:cNvSpPr>
            <a:spLocks noGrp="1"/>
          </p:cNvSpPr>
          <p:nvPr>
            <p:ph type="title"/>
          </p:nvPr>
        </p:nvSpPr>
        <p:spPr>
          <a:xfrm>
            <a:off x="457200" y="274638"/>
            <a:ext cx="8229600" cy="868362"/>
          </a:xfrm>
        </p:spPr>
        <p:txBody>
          <a:bodyPr/>
          <a:lstStyle/>
          <a:p>
            <a:r>
              <a:rPr lang="en-US" dirty="0"/>
              <a:t>Architecture Diagram</a:t>
            </a:r>
            <a:endParaRPr lang="en-IN" dirty="0"/>
          </a:p>
        </p:txBody>
      </p:sp>
      <p:pic>
        <p:nvPicPr>
          <p:cNvPr id="6" name="Content Placeholder 5">
            <a:extLst>
              <a:ext uri="{FF2B5EF4-FFF2-40B4-BE49-F238E27FC236}">
                <a16:creationId xmlns:a16="http://schemas.microsoft.com/office/drawing/2014/main" id="{EB3F1F5A-4B06-9381-3E5A-46C21C619335}"/>
              </a:ext>
            </a:extLst>
          </p:cNvPr>
          <p:cNvPicPr>
            <a:picLocks noGrp="1" noChangeAspect="1"/>
          </p:cNvPicPr>
          <p:nvPr>
            <p:ph idx="1"/>
          </p:nvPr>
        </p:nvPicPr>
        <p:blipFill>
          <a:blip r:embed="rId2"/>
          <a:stretch>
            <a:fillRect/>
          </a:stretch>
        </p:blipFill>
        <p:spPr>
          <a:xfrm>
            <a:off x="2057400" y="1122680"/>
            <a:ext cx="4650245" cy="4897120"/>
          </a:xfrm>
          <a:prstGeom prst="rect">
            <a:avLst/>
          </a:prstGeom>
        </p:spPr>
      </p:pic>
      <p:sp>
        <p:nvSpPr>
          <p:cNvPr id="4" name="Footer Placeholder 3">
            <a:extLst>
              <a:ext uri="{FF2B5EF4-FFF2-40B4-BE49-F238E27FC236}">
                <a16:creationId xmlns:a16="http://schemas.microsoft.com/office/drawing/2014/main" id="{2F6B379F-5DBC-9B5F-E09A-E8425965E35F}"/>
              </a:ext>
            </a:extLst>
          </p:cNvPr>
          <p:cNvSpPr>
            <a:spLocks noGrp="1"/>
          </p:cNvSpPr>
          <p:nvPr>
            <p:ph type="ftr" sz="quarter" idx="11"/>
          </p:nvPr>
        </p:nvSpPr>
        <p:spPr>
          <a:xfrm>
            <a:off x="2552700" y="6400799"/>
            <a:ext cx="4038600" cy="365125"/>
          </a:xfrm>
        </p:spPr>
        <p:txBody>
          <a:bodyPr/>
          <a:lstStyle/>
          <a:p>
            <a:r>
              <a:rPr lang="en-US" dirty="0"/>
              <a:t>DEPARTMENT OF COMPUTER SCIENCE AND ENGINEERING</a:t>
            </a:r>
          </a:p>
        </p:txBody>
      </p:sp>
    </p:spTree>
    <p:extLst>
      <p:ext uri="{BB962C8B-B14F-4D97-AF65-F5344CB8AC3E}">
        <p14:creationId xmlns:p14="http://schemas.microsoft.com/office/powerpoint/2010/main" val="902276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2EF6A-0871-E4E3-B67C-7D008B5E3AEF}"/>
              </a:ext>
            </a:extLst>
          </p:cNvPr>
          <p:cNvSpPr>
            <a:spLocks noGrp="1"/>
          </p:cNvSpPr>
          <p:nvPr>
            <p:ph type="title"/>
          </p:nvPr>
        </p:nvSpPr>
        <p:spPr>
          <a:xfrm>
            <a:off x="457200" y="96520"/>
            <a:ext cx="8229600" cy="1143000"/>
          </a:xfrm>
        </p:spPr>
        <p:txBody>
          <a:bodyPr/>
          <a:lstStyle/>
          <a:p>
            <a:r>
              <a:rPr lang="en-US" dirty="0"/>
              <a:t>Novel Idea</a:t>
            </a:r>
            <a:endParaRPr lang="en-IN" dirty="0"/>
          </a:p>
        </p:txBody>
      </p:sp>
      <p:sp>
        <p:nvSpPr>
          <p:cNvPr id="3" name="Content Placeholder 2">
            <a:extLst>
              <a:ext uri="{FF2B5EF4-FFF2-40B4-BE49-F238E27FC236}">
                <a16:creationId xmlns:a16="http://schemas.microsoft.com/office/drawing/2014/main" id="{4E13FB9A-EF9F-50D7-49BA-AA3A38F81251}"/>
              </a:ext>
            </a:extLst>
          </p:cNvPr>
          <p:cNvSpPr>
            <a:spLocks noGrp="1"/>
          </p:cNvSpPr>
          <p:nvPr>
            <p:ph idx="1"/>
          </p:nvPr>
        </p:nvSpPr>
        <p:spPr>
          <a:xfrm>
            <a:off x="457200" y="1219200"/>
            <a:ext cx="8229600" cy="4906963"/>
          </a:xfrm>
        </p:spPr>
        <p:txBody>
          <a:bodyPr>
            <a:normAutofit fontScale="92500" lnSpcReduction="10000"/>
          </a:bodyPr>
          <a:lstStyle/>
          <a:p>
            <a:pPr>
              <a:buAutoNum type="arabicPeriod"/>
            </a:pPr>
            <a:r>
              <a:rPr lang="en-US" sz="1800" dirty="0"/>
              <a:t>Camera-Only System → Unlike most fitness trackers requiring smartwatches or IoT sensors, this project uses just a normal webcam or mobile camera, making it low-cost and widely accessible.	</a:t>
            </a:r>
          </a:p>
          <a:p>
            <a:pPr>
              <a:buAutoNum type="arabicPeriod"/>
            </a:pPr>
            <a:r>
              <a:rPr lang="en-US" sz="1800" dirty="0"/>
              <a:t>Pose-Aware Rep Counting → Instead of simple motion detection, it calculates joint angles (hip–knee–ankle for squats, shoulder–elbow–wrist for curls), ensuring correct posture before counting a rep.</a:t>
            </a:r>
          </a:p>
          <a:p>
            <a:pPr>
              <a:buAutoNum type="arabicPeriod"/>
            </a:pPr>
            <a:r>
              <a:rPr lang="en-US" sz="1800" dirty="0"/>
              <a:t>Gesture-Based Control (Thumbs-Up Exit) → Hands-free way to end a session; no need to press keys while exercising, which makes it more user-friendly and safe.</a:t>
            </a:r>
          </a:p>
          <a:p>
            <a:pPr>
              <a:buAutoNum type="arabicPeriod"/>
            </a:pPr>
            <a:r>
              <a:rPr lang="en-US" sz="1800" dirty="0"/>
              <a:t>Exercise-Specific Calorie Estimation → Uses different MET values for different workouts (squats vs curls) instead of a one-size-fits-all calorie count, making it more accurate.</a:t>
            </a:r>
          </a:p>
          <a:p>
            <a:pPr>
              <a:buAutoNum type="arabicPeriod"/>
            </a:pPr>
            <a:r>
              <a:rPr lang="en-US" sz="1800" dirty="0"/>
              <a:t>Real-Time Feedback Overlay → The system overlays count + calories burned live on the camera feed, helping users stay motivated while exercising.</a:t>
            </a:r>
          </a:p>
          <a:p>
            <a:pPr>
              <a:buAutoNum type="arabicPeriod"/>
            </a:pPr>
            <a:r>
              <a:rPr lang="en-US" sz="1800" dirty="0"/>
              <a:t>Automatic Report Generation → At the end of each workout, a PDF summary (with name, age, total reps, calories, date, and graphs) is generated automatically.</a:t>
            </a:r>
          </a:p>
          <a:p>
            <a:pPr>
              <a:buAutoNum type="arabicPeriod"/>
            </a:pPr>
            <a:r>
              <a:rPr lang="en-US" sz="1800" dirty="0"/>
              <a:t>Integrated Email Delivery → The system sends the workout summary to the user’s email instantly – something not found in most free trackers.</a:t>
            </a:r>
          </a:p>
          <a:p>
            <a:pPr>
              <a:buAutoNum type="arabicPeriod"/>
            </a:pPr>
            <a:r>
              <a:rPr lang="en-US" sz="1800" dirty="0"/>
              <a:t>Data Logging for Progress Tracking → Each session is stored in CSV format, allowing users to track improvement over days/weeks without relying on external apps.</a:t>
            </a:r>
            <a:endParaRPr lang="en-IN" sz="1800" dirty="0"/>
          </a:p>
        </p:txBody>
      </p:sp>
      <p:sp>
        <p:nvSpPr>
          <p:cNvPr id="4" name="Footer Placeholder 3">
            <a:extLst>
              <a:ext uri="{FF2B5EF4-FFF2-40B4-BE49-F238E27FC236}">
                <a16:creationId xmlns:a16="http://schemas.microsoft.com/office/drawing/2014/main" id="{A678AB30-F1B4-8AAA-D92B-9EE61741364B}"/>
              </a:ext>
            </a:extLst>
          </p:cNvPr>
          <p:cNvSpPr>
            <a:spLocks noGrp="1"/>
          </p:cNvSpPr>
          <p:nvPr>
            <p:ph type="ftr" sz="quarter" idx="11"/>
          </p:nvPr>
        </p:nvSpPr>
        <p:spPr>
          <a:xfrm>
            <a:off x="2476500" y="6324600"/>
            <a:ext cx="4191000" cy="365125"/>
          </a:xfrm>
        </p:spPr>
        <p:txBody>
          <a:bodyPr/>
          <a:lstStyle/>
          <a:p>
            <a:r>
              <a:rPr lang="en-US" dirty="0"/>
              <a:t>DEPARTMENT OF COMPUTER SCIENCE AND ENGINEERING</a:t>
            </a:r>
          </a:p>
        </p:txBody>
      </p:sp>
    </p:spTree>
    <p:extLst>
      <p:ext uri="{BB962C8B-B14F-4D97-AF65-F5344CB8AC3E}">
        <p14:creationId xmlns:p14="http://schemas.microsoft.com/office/powerpoint/2010/main" val="2258458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B047E-A519-52E8-EEB1-63372252A2DE}"/>
              </a:ext>
            </a:extLst>
          </p:cNvPr>
          <p:cNvSpPr>
            <a:spLocks noGrp="1"/>
          </p:cNvSpPr>
          <p:nvPr>
            <p:ph type="title"/>
          </p:nvPr>
        </p:nvSpPr>
        <p:spPr>
          <a:xfrm>
            <a:off x="497840" y="146685"/>
            <a:ext cx="8229600" cy="715962"/>
          </a:xfrm>
        </p:spPr>
        <p:txBody>
          <a:bodyPr>
            <a:normAutofit fontScale="90000"/>
          </a:bodyPr>
          <a:lstStyle/>
          <a:p>
            <a:r>
              <a:rPr lang="en-US" dirty="0"/>
              <a:t>Modules</a:t>
            </a:r>
            <a:endParaRPr lang="en-IN" dirty="0"/>
          </a:p>
        </p:txBody>
      </p:sp>
      <p:sp>
        <p:nvSpPr>
          <p:cNvPr id="3" name="Content Placeholder 2">
            <a:extLst>
              <a:ext uri="{FF2B5EF4-FFF2-40B4-BE49-F238E27FC236}">
                <a16:creationId xmlns:a16="http://schemas.microsoft.com/office/drawing/2014/main" id="{C1E6F997-4B43-3124-0688-E1DF4447EBA8}"/>
              </a:ext>
            </a:extLst>
          </p:cNvPr>
          <p:cNvSpPr>
            <a:spLocks noGrp="1"/>
          </p:cNvSpPr>
          <p:nvPr>
            <p:ph idx="1"/>
          </p:nvPr>
        </p:nvSpPr>
        <p:spPr>
          <a:xfrm>
            <a:off x="609600" y="970280"/>
            <a:ext cx="8097520" cy="5201920"/>
          </a:xfrm>
        </p:spPr>
        <p:txBody>
          <a:bodyPr>
            <a:noAutofit/>
          </a:bodyPr>
          <a:lstStyle/>
          <a:p>
            <a:r>
              <a:rPr lang="en-IN" sz="1900" dirty="0" err="1"/>
              <a:t>tkinter</a:t>
            </a:r>
            <a:r>
              <a:rPr lang="en-IN" sz="1900" dirty="0"/>
              <a:t>: For creating graphical user interfaces (GUI), including windows, buttons, and input fields.</a:t>
            </a:r>
          </a:p>
          <a:p>
            <a:r>
              <a:rPr lang="en-IN" sz="1900" dirty="0"/>
              <a:t>cv2 (OpenCV): For capturing and processing video frames from the webcam.</a:t>
            </a:r>
          </a:p>
          <a:p>
            <a:r>
              <a:rPr lang="en-IN" sz="1900" dirty="0" err="1"/>
              <a:t>mediapipe</a:t>
            </a:r>
            <a:r>
              <a:rPr lang="en-IN" sz="1900" dirty="0"/>
              <a:t>: For real-time pose and hand tracking, used to detect squats, curls, and thumbs-up gestures.</a:t>
            </a:r>
          </a:p>
          <a:p>
            <a:r>
              <a:rPr lang="en-IN" sz="1900" dirty="0" err="1"/>
              <a:t>numpy</a:t>
            </a:r>
            <a:r>
              <a:rPr lang="en-IN" sz="1900" dirty="0"/>
              <a:t>: For numerical operations, mainly to calculate joint angles.</a:t>
            </a:r>
          </a:p>
          <a:p>
            <a:r>
              <a:rPr lang="en-IN" sz="1900" dirty="0"/>
              <a:t>pandas: For creating, saving, and managing exercise logs in CSV files.</a:t>
            </a:r>
          </a:p>
          <a:p>
            <a:r>
              <a:rPr lang="en-IN" sz="1900" dirty="0" err="1"/>
              <a:t>matplotlib.pyplot</a:t>
            </a:r>
            <a:r>
              <a:rPr lang="en-IN" sz="1900" dirty="0"/>
              <a:t>: For plotting graphs (e.g., reps over time).</a:t>
            </a:r>
          </a:p>
          <a:p>
            <a:r>
              <a:rPr lang="en-IN" sz="1900" dirty="0"/>
              <a:t>datetime: For handling dates and timestamps.</a:t>
            </a:r>
          </a:p>
          <a:p>
            <a:r>
              <a:rPr lang="en-IN" sz="1900" dirty="0" err="1"/>
              <a:t>os</a:t>
            </a:r>
            <a:r>
              <a:rPr lang="en-IN" sz="1900" dirty="0"/>
              <a:t>: For file operations, such as checking, deleting, or creating CSV/PDF files.</a:t>
            </a:r>
          </a:p>
          <a:p>
            <a:r>
              <a:rPr lang="en-IN" sz="1900" dirty="0"/>
              <a:t>time: For measuring elapsed time during workouts.</a:t>
            </a:r>
          </a:p>
          <a:p>
            <a:r>
              <a:rPr lang="en-IN" sz="1900" dirty="0" err="1"/>
              <a:t>fpdf</a:t>
            </a:r>
            <a:r>
              <a:rPr lang="en-IN" sz="1900" dirty="0"/>
              <a:t>: For generating PDF summary reports of the workout.</a:t>
            </a:r>
          </a:p>
          <a:p>
            <a:r>
              <a:rPr lang="en-IN" sz="1900" dirty="0" err="1"/>
              <a:t>smtplib</a:t>
            </a:r>
            <a:r>
              <a:rPr lang="en-IN" sz="1900" dirty="0"/>
              <a:t>: For sending emails using SMTP protocol.</a:t>
            </a:r>
          </a:p>
          <a:p>
            <a:r>
              <a:rPr lang="en-IN" sz="1900" dirty="0" err="1"/>
              <a:t>email.message</a:t>
            </a:r>
            <a:r>
              <a:rPr lang="en-IN" sz="1900" dirty="0"/>
              <a:t> (</a:t>
            </a:r>
            <a:r>
              <a:rPr lang="en-IN" sz="1900" dirty="0" err="1"/>
              <a:t>EmailMessage</a:t>
            </a:r>
            <a:r>
              <a:rPr lang="en-IN" sz="1900" dirty="0"/>
              <a:t>): For structuring and sending emails with attachments.</a:t>
            </a:r>
          </a:p>
        </p:txBody>
      </p:sp>
      <p:sp>
        <p:nvSpPr>
          <p:cNvPr id="4" name="Footer Placeholder 3">
            <a:extLst>
              <a:ext uri="{FF2B5EF4-FFF2-40B4-BE49-F238E27FC236}">
                <a16:creationId xmlns:a16="http://schemas.microsoft.com/office/drawing/2014/main" id="{A673C5A0-2101-6FBF-6E1F-5B5D80ADCC2C}"/>
              </a:ext>
            </a:extLst>
          </p:cNvPr>
          <p:cNvSpPr>
            <a:spLocks noGrp="1"/>
          </p:cNvSpPr>
          <p:nvPr>
            <p:ph type="ftr" sz="quarter" idx="11"/>
          </p:nvPr>
        </p:nvSpPr>
        <p:spPr>
          <a:xfrm>
            <a:off x="2400300" y="6346190"/>
            <a:ext cx="4343400" cy="365125"/>
          </a:xfrm>
        </p:spPr>
        <p:txBody>
          <a:bodyPr/>
          <a:lstStyle/>
          <a:p>
            <a:r>
              <a:rPr lang="en-US" dirty="0"/>
              <a:t>DEPARTMENT OF COMPUTER SCIENCE AND ENGINEERING</a:t>
            </a:r>
          </a:p>
        </p:txBody>
      </p:sp>
    </p:spTree>
    <p:extLst>
      <p:ext uri="{BB962C8B-B14F-4D97-AF65-F5344CB8AC3E}">
        <p14:creationId xmlns:p14="http://schemas.microsoft.com/office/powerpoint/2010/main" val="288335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2BEB5-CF31-87DE-DAEB-884B6D201F44}"/>
              </a:ext>
            </a:extLst>
          </p:cNvPr>
          <p:cNvSpPr>
            <a:spLocks noGrp="1"/>
          </p:cNvSpPr>
          <p:nvPr>
            <p:ph type="title"/>
          </p:nvPr>
        </p:nvSpPr>
        <p:spPr>
          <a:xfrm>
            <a:off x="457200" y="178107"/>
            <a:ext cx="8229600" cy="1143000"/>
          </a:xfrm>
        </p:spPr>
        <p:txBody>
          <a:bodyPr/>
          <a:lstStyle/>
          <a:p>
            <a:r>
              <a:rPr lang="en-US" dirty="0"/>
              <a:t>Modules Description</a:t>
            </a:r>
            <a:endParaRPr lang="en-IN" dirty="0"/>
          </a:p>
        </p:txBody>
      </p:sp>
      <p:sp>
        <p:nvSpPr>
          <p:cNvPr id="4" name="Footer Placeholder 3">
            <a:extLst>
              <a:ext uri="{FF2B5EF4-FFF2-40B4-BE49-F238E27FC236}">
                <a16:creationId xmlns:a16="http://schemas.microsoft.com/office/drawing/2014/main" id="{6097FAE8-86B9-9E1D-AFE4-74D60F50D7F1}"/>
              </a:ext>
            </a:extLst>
          </p:cNvPr>
          <p:cNvSpPr>
            <a:spLocks noGrp="1"/>
          </p:cNvSpPr>
          <p:nvPr>
            <p:ph type="ftr" sz="quarter" idx="11"/>
          </p:nvPr>
        </p:nvSpPr>
        <p:spPr>
          <a:xfrm>
            <a:off x="2590800" y="6324600"/>
            <a:ext cx="4495800" cy="365125"/>
          </a:xfrm>
        </p:spPr>
        <p:txBody>
          <a:bodyPr/>
          <a:lstStyle/>
          <a:p>
            <a:r>
              <a:rPr lang="en-US" dirty="0"/>
              <a:t>DEPARTMENT OF COMPUTER SCIENCE AND ENGINEERING</a:t>
            </a:r>
          </a:p>
        </p:txBody>
      </p:sp>
      <p:sp>
        <p:nvSpPr>
          <p:cNvPr id="5" name="Rectangle 1">
            <a:extLst>
              <a:ext uri="{FF2B5EF4-FFF2-40B4-BE49-F238E27FC236}">
                <a16:creationId xmlns:a16="http://schemas.microsoft.com/office/drawing/2014/main" id="{A98CCA5F-B4A6-47D7-F567-BE5C23018A2D}"/>
              </a:ext>
            </a:extLst>
          </p:cNvPr>
          <p:cNvSpPr>
            <a:spLocks noGrp="1" noChangeArrowheads="1"/>
          </p:cNvSpPr>
          <p:nvPr>
            <p:ph idx="1"/>
          </p:nvPr>
        </p:nvSpPr>
        <p:spPr bwMode="auto">
          <a:xfrm>
            <a:off x="609600" y="1469102"/>
            <a:ext cx="79248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Unicode MS"/>
              </a:rPr>
              <a:t> </a:t>
            </a:r>
            <a:r>
              <a:rPr kumimoji="0" lang="en-US" altLang="en-US" sz="1800" b="1" i="0" u="none" strike="noStrike" cap="none" normalizeH="0" baseline="0" dirty="0" err="1">
                <a:ln>
                  <a:noFill/>
                </a:ln>
                <a:solidFill>
                  <a:schemeClr val="tx1"/>
                </a:solidFill>
                <a:effectLst/>
                <a:latin typeface="Arial Unicode MS"/>
              </a:rPr>
              <a:t>tkinter</a:t>
            </a:r>
            <a:r>
              <a:rPr kumimoji="0" lang="en-US" altLang="en-US" sz="1800" b="0" i="0" u="none" strike="noStrike" cap="none" normalizeH="0" baseline="0" dirty="0">
                <a:ln>
                  <a:noFill/>
                </a:ln>
                <a:solidFill>
                  <a:schemeClr val="tx1"/>
                </a:solidFill>
                <a:effectLst/>
              </a:rPr>
              <a:t> → Standard Python GUI library for creating windows, buttons, and input fields.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Unicode MS"/>
              </a:rPr>
              <a:t> cv2</a:t>
            </a:r>
            <a:r>
              <a:rPr kumimoji="0" lang="en-US" altLang="en-US" sz="1800" b="1" i="0" u="none" strike="noStrike" cap="none" normalizeH="0" baseline="0" dirty="0">
                <a:ln>
                  <a:noFill/>
                </a:ln>
                <a:solidFill>
                  <a:schemeClr val="tx1"/>
                </a:solidFill>
                <a:effectLst/>
              </a:rPr>
              <a:t> (OpenCV)</a:t>
            </a:r>
            <a:r>
              <a:rPr kumimoji="0" lang="en-US" altLang="en-US" sz="1800" b="0" i="0" u="none" strike="noStrike" cap="none" normalizeH="0" baseline="0" dirty="0">
                <a:ln>
                  <a:noFill/>
                </a:ln>
                <a:solidFill>
                  <a:schemeClr val="tx1"/>
                </a:solidFill>
                <a:effectLst/>
                <a:latin typeface="Arial" panose="020B0604020202020204" pitchFamily="34" charset="0"/>
              </a:rPr>
              <a:t> → Computer vision library for webcam capture, image, and video processing.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Unicode MS"/>
              </a:rPr>
              <a:t> </a:t>
            </a:r>
            <a:r>
              <a:rPr kumimoji="0" lang="en-US" altLang="en-US" sz="1800" b="1" i="0" u="none" strike="noStrike" cap="none" normalizeH="0" baseline="0" dirty="0" err="1">
                <a:ln>
                  <a:noFill/>
                </a:ln>
                <a:solidFill>
                  <a:schemeClr val="tx1"/>
                </a:solidFill>
                <a:effectLst/>
                <a:latin typeface="Arial Unicode MS"/>
              </a:rPr>
              <a:t>mediapipe</a:t>
            </a:r>
            <a:r>
              <a:rPr kumimoji="0" lang="en-US" altLang="en-US" sz="1800" b="0" i="0" u="none" strike="noStrike" cap="none" normalizeH="0" baseline="0" dirty="0">
                <a:ln>
                  <a:noFill/>
                </a:ln>
                <a:solidFill>
                  <a:schemeClr val="tx1"/>
                </a:solidFill>
                <a:effectLst/>
              </a:rPr>
              <a:t> → ML-based library for real-time pose, hand, and face tracking.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Unicode MS"/>
              </a:rPr>
              <a:t> </a:t>
            </a:r>
            <a:r>
              <a:rPr kumimoji="0" lang="en-US" altLang="en-US" sz="1800" b="1" i="0" u="none" strike="noStrike" cap="none" normalizeH="0" baseline="0" dirty="0" err="1">
                <a:ln>
                  <a:noFill/>
                </a:ln>
                <a:solidFill>
                  <a:schemeClr val="tx1"/>
                </a:solidFill>
                <a:effectLst/>
                <a:latin typeface="Arial Unicode MS"/>
              </a:rPr>
              <a:t>numpy</a:t>
            </a:r>
            <a:r>
              <a:rPr kumimoji="0" lang="en-US" altLang="en-US" sz="1800" b="0" i="0" u="none" strike="noStrike" cap="none" normalizeH="0" baseline="0" dirty="0">
                <a:ln>
                  <a:noFill/>
                </a:ln>
                <a:solidFill>
                  <a:schemeClr val="tx1"/>
                </a:solidFill>
                <a:effectLst/>
              </a:rPr>
              <a:t> → Numerical computing library for arrays, math, and angle calculations.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Unicode MS"/>
              </a:rPr>
              <a:t> pandas</a:t>
            </a:r>
            <a:r>
              <a:rPr kumimoji="0" lang="en-US" altLang="en-US" sz="1800" b="0" i="0" u="none" strike="noStrike" cap="none" normalizeH="0" baseline="0" dirty="0">
                <a:ln>
                  <a:noFill/>
                </a:ln>
                <a:solidFill>
                  <a:schemeClr val="tx1"/>
                </a:solidFill>
                <a:effectLst/>
              </a:rPr>
              <a:t> → Data handling library for working with CSV/Excel and structured data.</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Unicode MS"/>
              </a:rPr>
              <a:t> </a:t>
            </a:r>
            <a:r>
              <a:rPr kumimoji="0" lang="en-US" altLang="en-US" sz="1800" b="1" i="0" u="none" strike="noStrike" cap="none" normalizeH="0" baseline="0" dirty="0" err="1">
                <a:ln>
                  <a:noFill/>
                </a:ln>
                <a:solidFill>
                  <a:schemeClr val="tx1"/>
                </a:solidFill>
                <a:effectLst/>
                <a:latin typeface="Arial Unicode MS"/>
              </a:rPr>
              <a:t>matplotlib.pyplot</a:t>
            </a:r>
            <a:r>
              <a:rPr kumimoji="0" lang="en-US" altLang="en-US" sz="1800" b="0" i="0" u="none" strike="noStrike" cap="none" normalizeH="0" baseline="0" dirty="0">
                <a:ln>
                  <a:noFill/>
                </a:ln>
                <a:solidFill>
                  <a:schemeClr val="tx1"/>
                </a:solidFill>
                <a:effectLst/>
              </a:rPr>
              <a:t> → Plotting library for creating graphs and visualizations.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Unicode MS"/>
              </a:rPr>
              <a:t> datetime</a:t>
            </a:r>
            <a:r>
              <a:rPr kumimoji="0" lang="en-US" altLang="en-US" sz="1800" b="0" i="0" u="none" strike="noStrike" cap="none" normalizeH="0" baseline="0" dirty="0">
                <a:ln>
                  <a:noFill/>
                </a:ln>
                <a:solidFill>
                  <a:schemeClr val="tx1"/>
                </a:solidFill>
                <a:effectLst/>
              </a:rPr>
              <a:t> → Standard library for working with dates, times, and timestamps.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Unicode MS"/>
              </a:rPr>
              <a:t> </a:t>
            </a:r>
            <a:r>
              <a:rPr kumimoji="0" lang="en-US" altLang="en-US" sz="1800" b="1" i="0" u="none" strike="noStrike" cap="none" normalizeH="0" baseline="0" dirty="0" err="1">
                <a:ln>
                  <a:noFill/>
                </a:ln>
                <a:solidFill>
                  <a:schemeClr val="tx1"/>
                </a:solidFill>
                <a:effectLst/>
                <a:latin typeface="Arial Unicode MS"/>
              </a:rPr>
              <a:t>os</a:t>
            </a:r>
            <a:r>
              <a:rPr kumimoji="0" lang="en-US" altLang="en-US" sz="1800" b="0" i="0" u="none" strike="noStrike" cap="none" normalizeH="0" baseline="0" dirty="0">
                <a:ln>
                  <a:noFill/>
                </a:ln>
                <a:solidFill>
                  <a:schemeClr val="tx1"/>
                </a:solidFill>
                <a:effectLst/>
              </a:rPr>
              <a:t> → Provides functions to interact with the operating system and files.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Unicode MS"/>
              </a:rPr>
              <a:t> time</a:t>
            </a:r>
            <a:r>
              <a:rPr kumimoji="0" lang="en-US" altLang="en-US" sz="1800" b="0" i="0" u="none" strike="noStrike" cap="none" normalizeH="0" baseline="0" dirty="0">
                <a:ln>
                  <a:noFill/>
                </a:ln>
                <a:solidFill>
                  <a:schemeClr val="tx1"/>
                </a:solidFill>
                <a:effectLst/>
              </a:rPr>
              <a:t> → Standard library for measuring elapsed time and delays.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Unicode MS"/>
              </a:rPr>
              <a:t> </a:t>
            </a:r>
            <a:r>
              <a:rPr kumimoji="0" lang="en-US" altLang="en-US" sz="1800" b="1" i="0" u="none" strike="noStrike" cap="none" normalizeH="0" baseline="0" dirty="0" err="1">
                <a:ln>
                  <a:noFill/>
                </a:ln>
                <a:solidFill>
                  <a:schemeClr val="tx1"/>
                </a:solidFill>
                <a:effectLst/>
                <a:latin typeface="Arial Unicode MS"/>
              </a:rPr>
              <a:t>fpdf</a:t>
            </a:r>
            <a:r>
              <a:rPr kumimoji="0" lang="en-US" altLang="en-US" sz="1800" b="0" i="0" u="none" strike="noStrike" cap="none" normalizeH="0" baseline="0" dirty="0">
                <a:ln>
                  <a:noFill/>
                </a:ln>
                <a:solidFill>
                  <a:schemeClr val="tx1"/>
                </a:solidFill>
                <a:effectLst/>
              </a:rPr>
              <a:t> → Lightweight library for generating PDF reports programmatically.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Unicode MS"/>
              </a:rPr>
              <a:t> </a:t>
            </a:r>
            <a:r>
              <a:rPr kumimoji="0" lang="en-US" altLang="en-US" sz="1800" b="1" i="0" u="none" strike="noStrike" cap="none" normalizeH="0" baseline="0" dirty="0" err="1">
                <a:ln>
                  <a:noFill/>
                </a:ln>
                <a:solidFill>
                  <a:schemeClr val="tx1"/>
                </a:solidFill>
                <a:effectLst/>
                <a:latin typeface="Arial Unicode MS"/>
              </a:rPr>
              <a:t>smtplib</a:t>
            </a:r>
            <a:r>
              <a:rPr kumimoji="0" lang="en-US" altLang="en-US" sz="1800" b="0" i="0" u="none" strike="noStrike" cap="none" normalizeH="0" baseline="0" dirty="0">
                <a:ln>
                  <a:noFill/>
                </a:ln>
                <a:solidFill>
                  <a:schemeClr val="tx1"/>
                </a:solidFill>
                <a:effectLst/>
              </a:rPr>
              <a:t> → Standard library for sending emails via the SMTP protocol.</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Unicode MS"/>
              </a:rPr>
              <a:t> </a:t>
            </a:r>
            <a:r>
              <a:rPr kumimoji="0" lang="en-US" altLang="en-US" sz="1800" b="1" i="0" u="none" strike="noStrike" cap="none" normalizeH="0" baseline="0" dirty="0" err="1">
                <a:ln>
                  <a:noFill/>
                </a:ln>
                <a:solidFill>
                  <a:schemeClr val="tx1"/>
                </a:solidFill>
                <a:effectLst/>
                <a:latin typeface="Arial Unicode MS"/>
              </a:rPr>
              <a:t>email.message</a:t>
            </a:r>
            <a:r>
              <a:rPr kumimoji="0" lang="en-US" altLang="en-US" sz="1800" b="1" i="0" u="none" strike="noStrike" cap="none" normalizeH="0" baseline="0" dirty="0">
                <a:ln>
                  <a:noFill/>
                </a:ln>
                <a:solidFill>
                  <a:schemeClr val="tx1"/>
                </a:solidFill>
                <a:effectLst/>
                <a:latin typeface="Arial Unicode MS"/>
              </a:rPr>
              <a:t> (</a:t>
            </a:r>
            <a:r>
              <a:rPr kumimoji="0" lang="en-US" altLang="en-US" sz="1800" b="1" i="0" u="none" strike="noStrike" cap="none" normalizeH="0" baseline="0" dirty="0" err="1">
                <a:ln>
                  <a:noFill/>
                </a:ln>
                <a:solidFill>
                  <a:schemeClr val="tx1"/>
                </a:solidFill>
                <a:effectLst/>
                <a:latin typeface="Arial Unicode MS"/>
              </a:rPr>
              <a:t>EmailMessage</a:t>
            </a:r>
            <a:r>
              <a:rPr kumimoji="0" lang="en-US" altLang="en-US" sz="1800" b="1" i="0" u="none" strike="noStrike" cap="none" normalizeH="0" baseline="0" dirty="0">
                <a:ln>
                  <a:noFill/>
                </a:ln>
                <a:solidFill>
                  <a:schemeClr val="tx1"/>
                </a:solidFill>
                <a:effectLst/>
                <a:latin typeface="Arial Unicode MS"/>
              </a:rPr>
              <a:t>)</a:t>
            </a:r>
            <a:r>
              <a:rPr kumimoji="0" lang="en-US" altLang="en-US" sz="1800" b="0" i="0" u="none" strike="noStrike" cap="none" normalizeH="0" baseline="0" dirty="0">
                <a:ln>
                  <a:noFill/>
                </a:ln>
                <a:solidFill>
                  <a:schemeClr val="tx1"/>
                </a:solidFill>
                <a:effectLst/>
              </a:rPr>
              <a:t> → Class for creating structured emails with attachments.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87719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0FAC3-4A09-3DBC-1BE0-E36C8E2DB2A7}"/>
              </a:ext>
            </a:extLst>
          </p:cNvPr>
          <p:cNvSpPr>
            <a:spLocks noGrp="1"/>
          </p:cNvSpPr>
          <p:nvPr>
            <p:ph type="title"/>
          </p:nvPr>
        </p:nvSpPr>
        <p:spPr>
          <a:xfrm>
            <a:off x="457200" y="274638"/>
            <a:ext cx="8229600" cy="639762"/>
          </a:xfrm>
        </p:spPr>
        <p:txBody>
          <a:bodyPr>
            <a:normAutofit fontScale="90000"/>
          </a:bodyPr>
          <a:lstStyle/>
          <a:p>
            <a:r>
              <a:rPr lang="en-US" dirty="0"/>
              <a:t>Algorithm</a:t>
            </a:r>
            <a:endParaRPr lang="en-IN" dirty="0"/>
          </a:p>
        </p:txBody>
      </p:sp>
      <p:sp>
        <p:nvSpPr>
          <p:cNvPr id="3" name="Content Placeholder 2">
            <a:extLst>
              <a:ext uri="{FF2B5EF4-FFF2-40B4-BE49-F238E27FC236}">
                <a16:creationId xmlns:a16="http://schemas.microsoft.com/office/drawing/2014/main" id="{4D891783-91BB-18B3-D901-E84D9292E2CB}"/>
              </a:ext>
            </a:extLst>
          </p:cNvPr>
          <p:cNvSpPr>
            <a:spLocks noGrp="1"/>
          </p:cNvSpPr>
          <p:nvPr>
            <p:ph idx="1"/>
          </p:nvPr>
        </p:nvSpPr>
        <p:spPr>
          <a:xfrm>
            <a:off x="457200" y="990600"/>
            <a:ext cx="8229600" cy="5365750"/>
          </a:xfrm>
        </p:spPr>
        <p:txBody>
          <a:bodyPr>
            <a:noAutofit/>
          </a:bodyPr>
          <a:lstStyle/>
          <a:p>
            <a:pPr marL="0" indent="0">
              <a:buNone/>
            </a:pPr>
            <a:r>
              <a:rPr lang="en-IN" sz="1450" dirty="0"/>
              <a:t>1. Start system and load user details (Name, Age, Weight, Email).</a:t>
            </a:r>
          </a:p>
          <a:p>
            <a:pPr marL="0" indent="0">
              <a:buNone/>
            </a:pPr>
            <a:r>
              <a:rPr lang="en-IN" sz="1450" dirty="0"/>
              <a:t>2. Load dataset of exercise sessions:	</a:t>
            </a:r>
          </a:p>
          <a:p>
            <a:pPr marL="0" indent="0">
              <a:buNone/>
            </a:pPr>
            <a:r>
              <a:rPr lang="en-IN" sz="1450" dirty="0"/>
              <a:t>• Columns may include: timestamp, </a:t>
            </a:r>
            <a:r>
              <a:rPr lang="en-IN" sz="1450" dirty="0" err="1"/>
              <a:t>joint_angles</a:t>
            </a:r>
            <a:r>
              <a:rPr lang="en-IN" sz="1450" dirty="0"/>
              <a:t>, </a:t>
            </a:r>
            <a:r>
              <a:rPr lang="en-IN" sz="1450" dirty="0" err="1"/>
              <a:t>exercise_type</a:t>
            </a:r>
            <a:r>
              <a:rPr lang="en-IN" sz="1450" dirty="0"/>
              <a:t>, reps, calories, </a:t>
            </a:r>
            <a:r>
              <a:rPr lang="en-IN" sz="1450" dirty="0" err="1"/>
              <a:t>user_id</a:t>
            </a:r>
            <a:r>
              <a:rPr lang="en-IN" sz="1450" dirty="0"/>
              <a:t>.</a:t>
            </a:r>
          </a:p>
          <a:p>
            <a:pPr marL="0" indent="0">
              <a:buNone/>
            </a:pPr>
            <a:r>
              <a:rPr lang="en-IN" sz="1450" dirty="0"/>
              <a:t>• Dataset can come from CSV files, motion sensor logs, or previously recorded videos.	</a:t>
            </a:r>
          </a:p>
          <a:p>
            <a:pPr marL="0" indent="0">
              <a:buNone/>
            </a:pPr>
            <a:r>
              <a:rPr lang="en-IN" sz="1450" dirty="0"/>
              <a:t>3. Preprocess dataset: Clean missing values, Normalize joint </a:t>
            </a:r>
            <a:r>
              <a:rPr lang="en-IN" sz="1450" dirty="0" err="1"/>
              <a:t>angles,Segment</a:t>
            </a:r>
            <a:r>
              <a:rPr lang="en-IN" sz="1450" dirty="0"/>
              <a:t> data into individual reps.</a:t>
            </a:r>
          </a:p>
          <a:p>
            <a:pPr marL="0" indent="0">
              <a:buNone/>
            </a:pPr>
            <a:r>
              <a:rPr lang="en-IN" sz="1450" dirty="0"/>
              <a:t>4. Extract features from dataset:	</a:t>
            </a:r>
          </a:p>
          <a:p>
            <a:pPr marL="0" indent="0">
              <a:buNone/>
            </a:pPr>
            <a:r>
              <a:rPr lang="en-IN" sz="1450" dirty="0"/>
              <a:t>• Angles of key joints (hip-knee-ankle, shoulder-elbow-wrist), Time duration of each rep.</a:t>
            </a:r>
          </a:p>
          <a:p>
            <a:pPr marL="0" indent="0">
              <a:buNone/>
            </a:pPr>
            <a:r>
              <a:rPr lang="en-IN" sz="1450" dirty="0"/>
              <a:t>5. Apply classification model (if ML is used):</a:t>
            </a:r>
          </a:p>
          <a:p>
            <a:pPr marL="0" indent="0">
              <a:buNone/>
            </a:pPr>
            <a:r>
              <a:rPr lang="en-IN" sz="1450" dirty="0"/>
              <a:t>• Train a model to identify exercise type (squat, curl, push-up, etc.), Validate on test data.</a:t>
            </a:r>
          </a:p>
          <a:p>
            <a:pPr marL="0" indent="0">
              <a:buNone/>
            </a:pPr>
            <a:r>
              <a:rPr lang="en-IN" sz="1450" dirty="0"/>
              <a:t>6. Count repetitions automatically by detecting valid cycles in dataset.</a:t>
            </a:r>
          </a:p>
          <a:p>
            <a:pPr marL="0" indent="0">
              <a:buNone/>
            </a:pPr>
            <a:r>
              <a:rPr lang="en-IN" sz="1450" dirty="0"/>
              <a:t>7. Estimate calories per exercise using:</a:t>
            </a:r>
          </a:p>
          <a:p>
            <a:pPr marL="0" indent="0">
              <a:buNone/>
            </a:pPr>
            <a:r>
              <a:rPr lang="en-IN" sz="1450" dirty="0"/>
              <a:t>• Repetition counts, MET values for each exercise, User’s weight.	</a:t>
            </a:r>
          </a:p>
          <a:p>
            <a:pPr marL="0" indent="0">
              <a:buNone/>
            </a:pPr>
            <a:r>
              <a:rPr lang="en-IN" sz="1450" dirty="0"/>
              <a:t>8. Store processed results (total reps, exercise type, calories burned, session duration) into a results dataset.</a:t>
            </a:r>
          </a:p>
          <a:p>
            <a:pPr marL="0" indent="0">
              <a:buNone/>
            </a:pPr>
            <a:r>
              <a:rPr lang="en-IN" sz="1450" dirty="0"/>
              <a:t>9. Generate analytics: Performance trends across sessions, Compare with historical data of same user, Detect improvements or inconsistencies.</a:t>
            </a:r>
          </a:p>
          <a:p>
            <a:pPr marL="0" indent="0">
              <a:buNone/>
            </a:pPr>
            <a:r>
              <a:rPr lang="en-IN" sz="1450" dirty="0"/>
              <a:t>10. Visualize data with graphs: Reps over time, Calories burned vs. days, Exercise distribution (pie/bar chart).</a:t>
            </a:r>
          </a:p>
          <a:p>
            <a:pPr marL="0" indent="0">
              <a:buNone/>
            </a:pPr>
            <a:r>
              <a:rPr lang="en-IN" sz="1450" dirty="0"/>
              <a:t>11. Generate PDF report summarizing analysis.</a:t>
            </a:r>
          </a:p>
          <a:p>
            <a:pPr marL="0" indent="0">
              <a:buNone/>
            </a:pPr>
            <a:r>
              <a:rPr lang="en-IN" sz="1450" dirty="0"/>
              <a:t>12. Send PDF report via email to user.</a:t>
            </a:r>
          </a:p>
          <a:p>
            <a:pPr marL="0" indent="0">
              <a:buNone/>
            </a:pPr>
            <a:r>
              <a:rPr lang="en-IN" sz="1450" dirty="0"/>
              <a:t>13. End system.</a:t>
            </a:r>
          </a:p>
        </p:txBody>
      </p:sp>
      <p:sp>
        <p:nvSpPr>
          <p:cNvPr id="4" name="Footer Placeholder 3">
            <a:extLst>
              <a:ext uri="{FF2B5EF4-FFF2-40B4-BE49-F238E27FC236}">
                <a16:creationId xmlns:a16="http://schemas.microsoft.com/office/drawing/2014/main" id="{57AB074D-C2B0-8C9C-62D3-B3C30EDAEE8A}"/>
              </a:ext>
            </a:extLst>
          </p:cNvPr>
          <p:cNvSpPr>
            <a:spLocks noGrp="1"/>
          </p:cNvSpPr>
          <p:nvPr>
            <p:ph type="ftr" sz="quarter" idx="11"/>
          </p:nvPr>
        </p:nvSpPr>
        <p:spPr>
          <a:xfrm>
            <a:off x="2400300" y="6400799"/>
            <a:ext cx="4343400" cy="365125"/>
          </a:xfrm>
        </p:spPr>
        <p:txBody>
          <a:bodyPr/>
          <a:lstStyle/>
          <a:p>
            <a:r>
              <a:rPr lang="en-US" dirty="0"/>
              <a:t>DEPARTMENT OF COMPUTER SCIENCE AND ENGINEERING</a:t>
            </a:r>
          </a:p>
        </p:txBody>
      </p:sp>
    </p:spTree>
    <p:extLst>
      <p:ext uri="{BB962C8B-B14F-4D97-AF65-F5344CB8AC3E}">
        <p14:creationId xmlns:p14="http://schemas.microsoft.com/office/powerpoint/2010/main" val="4062460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BB941-6A02-54FD-2AED-6886263A823F}"/>
              </a:ext>
            </a:extLst>
          </p:cNvPr>
          <p:cNvSpPr>
            <a:spLocks noGrp="1"/>
          </p:cNvSpPr>
          <p:nvPr>
            <p:ph type="title"/>
          </p:nvPr>
        </p:nvSpPr>
        <p:spPr>
          <a:xfrm>
            <a:off x="533400" y="316611"/>
            <a:ext cx="8229600" cy="639762"/>
          </a:xfrm>
        </p:spPr>
        <p:txBody>
          <a:bodyPr>
            <a:normAutofit fontScale="90000"/>
          </a:bodyPr>
          <a:lstStyle/>
          <a:p>
            <a:r>
              <a:rPr lang="en-US" dirty="0"/>
              <a:t>Software and Hardware Requirements</a:t>
            </a:r>
            <a:endParaRPr lang="en-IN" dirty="0"/>
          </a:p>
        </p:txBody>
      </p:sp>
      <p:sp>
        <p:nvSpPr>
          <p:cNvPr id="4" name="Footer Placeholder 3">
            <a:extLst>
              <a:ext uri="{FF2B5EF4-FFF2-40B4-BE49-F238E27FC236}">
                <a16:creationId xmlns:a16="http://schemas.microsoft.com/office/drawing/2014/main" id="{0A2503F8-3A78-8135-B565-FA873BD09CE9}"/>
              </a:ext>
            </a:extLst>
          </p:cNvPr>
          <p:cNvSpPr>
            <a:spLocks noGrp="1"/>
          </p:cNvSpPr>
          <p:nvPr>
            <p:ph type="ftr" sz="quarter" idx="11"/>
          </p:nvPr>
        </p:nvSpPr>
        <p:spPr>
          <a:xfrm>
            <a:off x="2400300" y="6358826"/>
            <a:ext cx="4343400" cy="365125"/>
          </a:xfrm>
        </p:spPr>
        <p:txBody>
          <a:bodyPr/>
          <a:lstStyle/>
          <a:p>
            <a:r>
              <a:rPr lang="en-US" dirty="0"/>
              <a:t>DEPARTMENT OF COMPUTER SCIENCE AND ENGINEERING</a:t>
            </a:r>
          </a:p>
        </p:txBody>
      </p:sp>
      <p:sp>
        <p:nvSpPr>
          <p:cNvPr id="5" name="Rectangle 1">
            <a:extLst>
              <a:ext uri="{FF2B5EF4-FFF2-40B4-BE49-F238E27FC236}">
                <a16:creationId xmlns:a16="http://schemas.microsoft.com/office/drawing/2014/main" id="{E409CADA-39DB-407A-7927-5E35C87430EE}"/>
              </a:ext>
            </a:extLst>
          </p:cNvPr>
          <p:cNvSpPr>
            <a:spLocks noGrp="1" noChangeArrowheads="1"/>
          </p:cNvSpPr>
          <p:nvPr>
            <p:ph idx="1"/>
          </p:nvPr>
        </p:nvSpPr>
        <p:spPr bwMode="auto">
          <a:xfrm>
            <a:off x="533400" y="956373"/>
            <a:ext cx="7924800" cy="5219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rPr>
              <a:t>Software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Operating System:</a:t>
            </a:r>
            <a:r>
              <a:rPr kumimoji="0" lang="en-US" altLang="en-US" sz="1400" b="0" i="0" u="none" strike="noStrike" cap="none" normalizeH="0" baseline="0" dirty="0">
                <a:ln>
                  <a:noFill/>
                </a:ln>
                <a:solidFill>
                  <a:schemeClr val="tx1"/>
                </a:solidFill>
                <a:effectLst/>
              </a:rPr>
              <a:t> Windows 10/11, Linux (Ubuntu), or macOS.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Python Version:</a:t>
            </a:r>
            <a:r>
              <a:rPr kumimoji="0" lang="en-US" altLang="en-US" sz="1400" b="0" i="0" u="none" strike="noStrike" cap="none" normalizeH="0" baseline="0" dirty="0">
                <a:ln>
                  <a:noFill/>
                </a:ln>
                <a:solidFill>
                  <a:schemeClr val="tx1"/>
                </a:solidFill>
                <a:effectLst/>
              </a:rPr>
              <a:t> Python 3.8 or higher.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Python Libraries:</a:t>
            </a:r>
            <a:endParaRPr kumimoji="0" lang="en-US" altLang="en-US" sz="1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chemeClr val="tx1"/>
                </a:solidFill>
                <a:effectLst/>
              </a:rPr>
              <a:t>tkinter</a:t>
            </a:r>
            <a:r>
              <a:rPr kumimoji="0" lang="en-US" altLang="en-US" sz="1400" b="0" i="0" u="none" strike="noStrike" cap="none" normalizeH="0" baseline="0" dirty="0">
                <a:ln>
                  <a:noFill/>
                </a:ln>
                <a:solidFill>
                  <a:schemeClr val="tx1"/>
                </a:solidFill>
                <a:effectLst/>
              </a:rPr>
              <a:t> (comes with Python)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chemeClr val="tx1"/>
                </a:solidFill>
                <a:effectLst/>
              </a:rPr>
              <a:t>opencv</a:t>
            </a:r>
            <a:r>
              <a:rPr kumimoji="0" lang="en-US" altLang="en-US" sz="1400" b="0" i="0" u="none" strike="noStrike" cap="none" normalizeH="0" baseline="0" dirty="0">
                <a:ln>
                  <a:noFill/>
                </a:ln>
                <a:solidFill>
                  <a:schemeClr val="tx1"/>
                </a:solidFill>
                <a:effectLst/>
              </a:rPr>
              <a:t>-python (cv2)</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chemeClr val="tx1"/>
                </a:solidFill>
                <a:effectLst/>
              </a:rPr>
              <a:t>mediapipe</a:t>
            </a:r>
            <a:endParaRPr kumimoji="0" lang="en-US" altLang="en-US" sz="1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chemeClr val="tx1"/>
                </a:solidFill>
                <a:effectLst/>
              </a:rPr>
              <a:t>numpy</a:t>
            </a:r>
            <a:endParaRPr kumimoji="0" lang="en-US" altLang="en-US" sz="1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rPr>
              <a:t>pandas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rPr>
              <a:t>matplotlib</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chemeClr val="tx1"/>
                </a:solidFill>
                <a:effectLst/>
              </a:rPr>
              <a:t>fpdf</a:t>
            </a:r>
            <a:endParaRPr kumimoji="0" lang="en-US" altLang="en-US" sz="1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chemeClr val="tx1"/>
                </a:solidFill>
                <a:effectLst/>
              </a:rPr>
              <a:t>smtplib</a:t>
            </a:r>
            <a:r>
              <a:rPr kumimoji="0" lang="en-US" altLang="en-US" sz="1400" b="0" i="0" u="none" strike="noStrike" cap="none" normalizeH="0" baseline="0" dirty="0">
                <a:ln>
                  <a:noFill/>
                </a:ln>
                <a:solidFill>
                  <a:schemeClr val="tx1"/>
                </a:solidFill>
                <a:effectLst/>
              </a:rPr>
              <a:t> &amp; email (built-in with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Email Configuration:</a:t>
            </a:r>
            <a:r>
              <a:rPr kumimoji="0" lang="en-US" altLang="en-US" sz="1400" b="0" i="0" u="none" strike="noStrike" cap="none" normalizeH="0" baseline="0" dirty="0">
                <a:ln>
                  <a:noFill/>
                </a:ln>
                <a:solidFill>
                  <a:schemeClr val="tx1"/>
                </a:solidFill>
                <a:effectLst/>
              </a:rPr>
              <a:t> Gmail account (with app password enabled for SMTP).</a:t>
            </a:r>
            <a:endParaRPr lang="en-US" altLang="en-US" sz="1400" dirty="0"/>
          </a:p>
          <a:p>
            <a:pPr marL="0" indent="0">
              <a:buNone/>
            </a:pPr>
            <a:r>
              <a:rPr lang="en-IN" sz="1400" b="1" dirty="0"/>
              <a:t>Hardware Requirements</a:t>
            </a:r>
          </a:p>
          <a:p>
            <a:r>
              <a:rPr lang="en-IN" sz="1400" b="1" dirty="0"/>
              <a:t>Processor (CPU):</a:t>
            </a:r>
            <a:r>
              <a:rPr lang="en-IN" sz="1400" dirty="0"/>
              <a:t> At least Intel i5 / AMD </a:t>
            </a:r>
            <a:r>
              <a:rPr lang="en-IN" sz="1400" dirty="0" err="1"/>
              <a:t>Ryzen</a:t>
            </a:r>
            <a:r>
              <a:rPr lang="en-IN" sz="1400" dirty="0"/>
              <a:t> 3 (for real-time pose detection).</a:t>
            </a:r>
          </a:p>
          <a:p>
            <a:r>
              <a:rPr lang="en-IN" sz="1400" b="1" dirty="0"/>
              <a:t>Memory (RAM):</a:t>
            </a:r>
            <a:r>
              <a:rPr lang="en-IN" sz="1400" dirty="0"/>
              <a:t> Minimum 4 GB (8 GB recommended).</a:t>
            </a:r>
          </a:p>
          <a:p>
            <a:r>
              <a:rPr lang="en-IN" sz="1400" b="1" dirty="0"/>
              <a:t>Webcam:</a:t>
            </a:r>
            <a:endParaRPr lang="en-IN" sz="1400" dirty="0"/>
          </a:p>
          <a:p>
            <a:pPr lvl="1"/>
            <a:r>
              <a:rPr lang="en-IN" sz="1400" dirty="0"/>
              <a:t>Built-in or external webcam with at least </a:t>
            </a:r>
            <a:r>
              <a:rPr lang="en-IN" sz="1400" b="1" dirty="0"/>
              <a:t>720p resolution</a:t>
            </a:r>
            <a:r>
              <a:rPr lang="en-IN" sz="1400" dirty="0"/>
              <a:t>.</a:t>
            </a:r>
          </a:p>
          <a:p>
            <a:pPr lvl="1"/>
            <a:r>
              <a:rPr lang="en-IN" sz="1400" dirty="0"/>
              <a:t>(Optional) Mobile phone camera via IP Webcam app.</a:t>
            </a:r>
          </a:p>
          <a:p>
            <a:r>
              <a:rPr lang="en-IN" sz="1400" b="1" dirty="0"/>
              <a:t>Graphics:</a:t>
            </a:r>
            <a:r>
              <a:rPr lang="en-IN" sz="1400" dirty="0"/>
              <a:t> Basic GPU (integrated is fine, but dedicated GPU improves speed).</a:t>
            </a:r>
          </a:p>
          <a:p>
            <a:r>
              <a:rPr lang="en-IN" sz="1400" b="1" dirty="0"/>
              <a:t>Storage:</a:t>
            </a:r>
            <a:r>
              <a:rPr lang="en-IN" sz="1400" dirty="0"/>
              <a:t> At least 500 MB free (for logs, PDFs, and libraries).</a:t>
            </a:r>
          </a:p>
          <a:p>
            <a:r>
              <a:rPr lang="en-IN" sz="1400" b="1" dirty="0"/>
              <a:t>Internet Connection:</a:t>
            </a:r>
            <a:r>
              <a:rPr lang="en-IN" sz="1400" dirty="0"/>
              <a:t> Needed for email sending and (optionally) using phone camera stream.</a:t>
            </a:r>
          </a:p>
        </p:txBody>
      </p:sp>
    </p:spTree>
    <p:extLst>
      <p:ext uri="{BB962C8B-B14F-4D97-AF65-F5344CB8AC3E}">
        <p14:creationId xmlns:p14="http://schemas.microsoft.com/office/powerpoint/2010/main" val="4234047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9BCF0-A0E1-12F8-3822-D4D157070874}"/>
              </a:ext>
            </a:extLst>
          </p:cNvPr>
          <p:cNvSpPr>
            <a:spLocks noGrp="1"/>
          </p:cNvSpPr>
          <p:nvPr>
            <p:ph type="title"/>
          </p:nvPr>
        </p:nvSpPr>
        <p:spPr/>
        <p:txBody>
          <a:bodyPr/>
          <a:lstStyle/>
          <a:p>
            <a:r>
              <a:rPr lang="en-IN" dirty="0"/>
              <a:t>Implementation</a:t>
            </a:r>
          </a:p>
        </p:txBody>
      </p:sp>
      <p:sp>
        <p:nvSpPr>
          <p:cNvPr id="3" name="Content Placeholder 2">
            <a:extLst>
              <a:ext uri="{FF2B5EF4-FFF2-40B4-BE49-F238E27FC236}">
                <a16:creationId xmlns:a16="http://schemas.microsoft.com/office/drawing/2014/main" id="{549B7C60-6526-F60F-57E8-F253C823F49C}"/>
              </a:ext>
            </a:extLst>
          </p:cNvPr>
          <p:cNvSpPr>
            <a:spLocks noGrp="1"/>
          </p:cNvSpPr>
          <p:nvPr>
            <p:ph idx="1"/>
          </p:nvPr>
        </p:nvSpPr>
        <p:spPr>
          <a:xfrm>
            <a:off x="457200" y="1143000"/>
            <a:ext cx="8229600" cy="4983163"/>
          </a:xfrm>
        </p:spPr>
        <p:txBody>
          <a:bodyPr>
            <a:normAutofit fontScale="32500" lnSpcReduction="20000"/>
          </a:bodyPr>
          <a:lstStyle/>
          <a:p>
            <a:pPr marL="0" indent="0">
              <a:buNone/>
            </a:pPr>
            <a:r>
              <a:rPr lang="en-IN" sz="3700" dirty="0"/>
              <a:t>import pandas as pd</a:t>
            </a:r>
          </a:p>
          <a:p>
            <a:pPr marL="0" indent="0">
              <a:buNone/>
            </a:pPr>
            <a:r>
              <a:rPr lang="en-IN" sz="3700" dirty="0"/>
              <a:t>import </a:t>
            </a:r>
            <a:r>
              <a:rPr lang="en-IN" sz="3700" dirty="0" err="1"/>
              <a:t>matplotlib.pyplot</a:t>
            </a:r>
            <a:r>
              <a:rPr lang="en-IN" sz="3700" dirty="0"/>
              <a:t> as </a:t>
            </a:r>
            <a:r>
              <a:rPr lang="en-IN" sz="3700" dirty="0" err="1"/>
              <a:t>plt</a:t>
            </a:r>
            <a:endParaRPr lang="en-IN" sz="3700" dirty="0"/>
          </a:p>
          <a:p>
            <a:pPr marL="0" indent="0">
              <a:buNone/>
            </a:pPr>
            <a:r>
              <a:rPr lang="en-IN" sz="3700" dirty="0"/>
              <a:t>from datetime import datetime</a:t>
            </a:r>
          </a:p>
          <a:p>
            <a:pPr marL="0" indent="0">
              <a:buNone/>
            </a:pPr>
            <a:r>
              <a:rPr lang="en-IN" sz="3700" dirty="0"/>
              <a:t>import </a:t>
            </a:r>
            <a:r>
              <a:rPr lang="en-IN" sz="3700" dirty="0" err="1"/>
              <a:t>os</a:t>
            </a:r>
            <a:endParaRPr lang="en-IN" sz="3700" dirty="0"/>
          </a:p>
          <a:p>
            <a:pPr marL="0" indent="0">
              <a:buNone/>
            </a:pPr>
            <a:r>
              <a:rPr lang="en-IN" sz="3700" dirty="0"/>
              <a:t>import time</a:t>
            </a:r>
          </a:p>
          <a:p>
            <a:pPr marL="0" indent="0">
              <a:buNone/>
            </a:pPr>
            <a:r>
              <a:rPr lang="en-IN" sz="3700" dirty="0"/>
              <a:t>from </a:t>
            </a:r>
            <a:r>
              <a:rPr lang="en-IN" sz="3700" dirty="0" err="1"/>
              <a:t>fpdf</a:t>
            </a:r>
            <a:r>
              <a:rPr lang="en-IN" sz="3700" dirty="0"/>
              <a:t> import FPDF</a:t>
            </a:r>
          </a:p>
          <a:p>
            <a:pPr marL="0" indent="0">
              <a:buNone/>
            </a:pPr>
            <a:r>
              <a:rPr lang="en-IN" sz="3700" dirty="0"/>
              <a:t>import </a:t>
            </a:r>
            <a:r>
              <a:rPr lang="en-IN" sz="3700" dirty="0" err="1"/>
              <a:t>smtplib</a:t>
            </a:r>
            <a:endParaRPr lang="en-IN" sz="3700" dirty="0"/>
          </a:p>
          <a:p>
            <a:pPr marL="0" indent="0">
              <a:buNone/>
            </a:pPr>
            <a:r>
              <a:rPr lang="en-IN" sz="3700" dirty="0"/>
              <a:t>from </a:t>
            </a:r>
            <a:r>
              <a:rPr lang="en-IN" sz="3700" dirty="0" err="1"/>
              <a:t>email.message</a:t>
            </a:r>
            <a:r>
              <a:rPr lang="en-IN" sz="3700" dirty="0"/>
              <a:t> import </a:t>
            </a:r>
            <a:r>
              <a:rPr lang="en-IN" sz="3700" dirty="0" err="1"/>
              <a:t>EmailMessage</a:t>
            </a:r>
            <a:endParaRPr lang="en-IN" sz="3700" dirty="0"/>
          </a:p>
          <a:p>
            <a:pPr marL="0" indent="0">
              <a:buNone/>
            </a:pPr>
            <a:endParaRPr lang="en-IN" sz="3700" dirty="0"/>
          </a:p>
          <a:p>
            <a:pPr marL="0" indent="0">
              <a:buNone/>
            </a:pPr>
            <a:r>
              <a:rPr lang="en-IN" sz="3700" dirty="0"/>
              <a:t># --- Config ---</a:t>
            </a:r>
          </a:p>
          <a:p>
            <a:pPr marL="0" indent="0">
              <a:buNone/>
            </a:pPr>
            <a:r>
              <a:rPr lang="en-IN" sz="3700" dirty="0"/>
              <a:t>PERSON_WEIGHT_KG = 50</a:t>
            </a:r>
          </a:p>
          <a:p>
            <a:pPr marL="0" indent="0">
              <a:buNone/>
            </a:pPr>
            <a:r>
              <a:rPr lang="en-IN" sz="3700" dirty="0"/>
              <a:t>CSV_FILE = "exercise_log.csv"</a:t>
            </a:r>
          </a:p>
          <a:p>
            <a:pPr marL="0" indent="0">
              <a:buNone/>
            </a:pPr>
            <a:r>
              <a:rPr lang="en-IN" sz="3700" dirty="0"/>
              <a:t>PDF_FILE = "exercise_summary.pdf"</a:t>
            </a:r>
          </a:p>
          <a:p>
            <a:pPr marL="0" indent="0">
              <a:buNone/>
            </a:pPr>
            <a:r>
              <a:rPr lang="en-IN" sz="3700" dirty="0"/>
              <a:t>SENDER_EMAIL = "vivekraosm2005@gmail.com"</a:t>
            </a:r>
          </a:p>
          <a:p>
            <a:pPr marL="0" indent="0">
              <a:buNone/>
            </a:pPr>
            <a:r>
              <a:rPr lang="en-IN" sz="3700" dirty="0"/>
              <a:t>SENDER_PASSWORD = "</a:t>
            </a:r>
            <a:r>
              <a:rPr lang="en-IN" sz="3700" dirty="0" err="1"/>
              <a:t>upoxwpgdlqczaxcf</a:t>
            </a:r>
            <a:r>
              <a:rPr lang="en-IN" sz="3700" dirty="0"/>
              <a:t>"</a:t>
            </a:r>
          </a:p>
          <a:p>
            <a:pPr marL="0" indent="0">
              <a:buNone/>
            </a:pPr>
            <a:endParaRPr lang="en-IN" sz="3700" dirty="0"/>
          </a:p>
          <a:p>
            <a:pPr marL="0" indent="0">
              <a:buNone/>
            </a:pPr>
            <a:r>
              <a:rPr lang="en-IN" sz="3700" dirty="0"/>
              <a:t>SQUAT_DOWN = 160</a:t>
            </a:r>
          </a:p>
          <a:p>
            <a:pPr marL="0" indent="0">
              <a:buNone/>
            </a:pPr>
            <a:r>
              <a:rPr lang="en-IN" sz="3700" dirty="0"/>
              <a:t>SQUAT_UP = 70</a:t>
            </a:r>
          </a:p>
          <a:p>
            <a:pPr marL="0" indent="0">
              <a:buNone/>
            </a:pPr>
            <a:r>
              <a:rPr lang="en-IN" sz="3700" dirty="0"/>
              <a:t>CURL_DOWN = 150</a:t>
            </a:r>
          </a:p>
          <a:p>
            <a:pPr marL="0" indent="0">
              <a:buNone/>
            </a:pPr>
            <a:r>
              <a:rPr lang="en-IN" sz="3700" dirty="0"/>
              <a:t>CURL_UP = 60</a:t>
            </a:r>
          </a:p>
          <a:p>
            <a:pPr marL="0" indent="0">
              <a:buNone/>
            </a:pPr>
            <a:r>
              <a:rPr lang="en-IN" sz="3700" dirty="0"/>
              <a:t>HOLD_THRESHOLD = 3</a:t>
            </a:r>
          </a:p>
          <a:p>
            <a:pPr marL="0" indent="0">
              <a:buNone/>
            </a:pPr>
            <a:r>
              <a:rPr lang="en-IN" sz="3700" dirty="0" err="1"/>
              <a:t>squat_counter</a:t>
            </a:r>
            <a:r>
              <a:rPr lang="en-IN" sz="3700" dirty="0"/>
              <a:t> = 0</a:t>
            </a:r>
          </a:p>
          <a:p>
            <a:pPr marL="0" indent="0">
              <a:buNone/>
            </a:pPr>
            <a:r>
              <a:rPr lang="en-IN" sz="3700" dirty="0" err="1"/>
              <a:t>curl_counter</a:t>
            </a:r>
            <a:r>
              <a:rPr lang="en-IN" sz="3700" dirty="0"/>
              <a:t> = 0</a:t>
            </a:r>
          </a:p>
          <a:p>
            <a:pPr marL="0" indent="0">
              <a:buNone/>
            </a:pPr>
            <a:r>
              <a:rPr lang="en-IN" sz="3700" dirty="0" err="1"/>
              <a:t>squat_stage</a:t>
            </a:r>
            <a:r>
              <a:rPr lang="en-IN" sz="3700" dirty="0"/>
              <a:t> = None</a:t>
            </a:r>
          </a:p>
          <a:p>
            <a:pPr marL="0" indent="0">
              <a:buNone/>
            </a:pPr>
            <a:r>
              <a:rPr lang="en-IN" sz="3700" dirty="0" err="1"/>
              <a:t>curl_stage</a:t>
            </a:r>
            <a:r>
              <a:rPr lang="en-IN" sz="3700" dirty="0"/>
              <a:t> = None</a:t>
            </a:r>
          </a:p>
          <a:p>
            <a:pPr marL="0" indent="0">
              <a:buNone/>
            </a:pPr>
            <a:r>
              <a:rPr lang="en-IN" sz="3700" dirty="0" err="1"/>
              <a:t>time_started</a:t>
            </a:r>
            <a:r>
              <a:rPr lang="en-IN" sz="3700" dirty="0"/>
              <a:t> = None</a:t>
            </a:r>
          </a:p>
          <a:p>
            <a:pPr marL="0" indent="0">
              <a:buNone/>
            </a:pPr>
            <a:endParaRPr lang="en-IN" dirty="0"/>
          </a:p>
          <a:p>
            <a:pPr marL="0" indent="0">
              <a:buNone/>
            </a:pPr>
            <a:endParaRPr lang="en-IN" dirty="0"/>
          </a:p>
        </p:txBody>
      </p:sp>
      <p:sp>
        <p:nvSpPr>
          <p:cNvPr id="4" name="Footer Placeholder 3">
            <a:extLst>
              <a:ext uri="{FF2B5EF4-FFF2-40B4-BE49-F238E27FC236}">
                <a16:creationId xmlns:a16="http://schemas.microsoft.com/office/drawing/2014/main" id="{12D95780-6F29-BC72-E33C-70B43BF85018}"/>
              </a:ext>
            </a:extLst>
          </p:cNvPr>
          <p:cNvSpPr>
            <a:spLocks noGrp="1"/>
          </p:cNvSpPr>
          <p:nvPr>
            <p:ph type="ftr" sz="quarter" idx="11"/>
          </p:nvPr>
        </p:nvSpPr>
        <p:spPr>
          <a:xfrm>
            <a:off x="2590800" y="6324600"/>
            <a:ext cx="4343400" cy="365125"/>
          </a:xfrm>
        </p:spPr>
        <p:txBody>
          <a:bodyPr/>
          <a:lstStyle/>
          <a:p>
            <a:r>
              <a:rPr lang="en-US" dirty="0"/>
              <a:t>DEPARTMENT OF COMPUTER SCIENCE AND ENGINEERING </a:t>
            </a:r>
          </a:p>
        </p:txBody>
      </p:sp>
    </p:spTree>
    <p:extLst>
      <p:ext uri="{BB962C8B-B14F-4D97-AF65-F5344CB8AC3E}">
        <p14:creationId xmlns:p14="http://schemas.microsoft.com/office/powerpoint/2010/main" val="1027925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B2911-424F-91DC-B3C9-A1E2A160C7DD}"/>
              </a:ext>
            </a:extLst>
          </p:cNvPr>
          <p:cNvSpPr>
            <a:spLocks noGrp="1"/>
          </p:cNvSpPr>
          <p:nvPr>
            <p:ph type="title"/>
          </p:nvPr>
        </p:nvSpPr>
        <p:spPr>
          <a:xfrm flipV="1">
            <a:off x="457200" y="0"/>
            <a:ext cx="8153400" cy="274638"/>
          </a:xfrm>
        </p:spPr>
        <p:txBody>
          <a:bodyPr>
            <a:normAutofit fontScale="90000"/>
          </a:bodyPr>
          <a:lstStyle/>
          <a:p>
            <a:r>
              <a:rPr lang="en-IN" dirty="0"/>
              <a:t> </a:t>
            </a:r>
          </a:p>
        </p:txBody>
      </p:sp>
      <p:sp>
        <p:nvSpPr>
          <p:cNvPr id="3" name="Content Placeholder 2">
            <a:extLst>
              <a:ext uri="{FF2B5EF4-FFF2-40B4-BE49-F238E27FC236}">
                <a16:creationId xmlns:a16="http://schemas.microsoft.com/office/drawing/2014/main" id="{6CF27E78-7FB3-6B7F-52F1-3D1A5CF932CB}"/>
              </a:ext>
            </a:extLst>
          </p:cNvPr>
          <p:cNvSpPr>
            <a:spLocks noGrp="1"/>
          </p:cNvSpPr>
          <p:nvPr>
            <p:ph idx="1"/>
          </p:nvPr>
        </p:nvSpPr>
        <p:spPr>
          <a:xfrm>
            <a:off x="457200" y="274638"/>
            <a:ext cx="8229600" cy="5851525"/>
          </a:xfrm>
        </p:spPr>
        <p:txBody>
          <a:bodyPr>
            <a:normAutofit fontScale="40000" lnSpcReduction="20000"/>
          </a:bodyPr>
          <a:lstStyle/>
          <a:p>
            <a:pPr marL="0" indent="0">
              <a:buNone/>
            </a:pPr>
            <a:r>
              <a:rPr lang="en-IN" sz="3000" dirty="0" err="1"/>
              <a:t>reps_over_time</a:t>
            </a:r>
            <a:r>
              <a:rPr lang="en-IN" sz="3000" dirty="0"/>
              <a:t> = []</a:t>
            </a:r>
          </a:p>
          <a:p>
            <a:pPr marL="0" indent="0">
              <a:buNone/>
            </a:pPr>
            <a:r>
              <a:rPr lang="en-IN" sz="3000" dirty="0" err="1"/>
              <a:t>user_name</a:t>
            </a:r>
            <a:r>
              <a:rPr lang="en-IN" sz="3000" dirty="0"/>
              <a:t> = ""</a:t>
            </a:r>
          </a:p>
          <a:p>
            <a:pPr marL="0" indent="0">
              <a:buNone/>
            </a:pPr>
            <a:r>
              <a:rPr lang="en-IN" sz="3000" dirty="0" err="1"/>
              <a:t>user_age</a:t>
            </a:r>
            <a:r>
              <a:rPr lang="en-IN" sz="3000" dirty="0"/>
              <a:t> = ""</a:t>
            </a:r>
          </a:p>
          <a:p>
            <a:pPr marL="0" indent="0">
              <a:buNone/>
            </a:pPr>
            <a:r>
              <a:rPr lang="en-IN" sz="3000" dirty="0" err="1"/>
              <a:t>receiver_email</a:t>
            </a:r>
            <a:r>
              <a:rPr lang="en-IN" sz="3000" dirty="0"/>
              <a:t> = ""</a:t>
            </a:r>
          </a:p>
          <a:p>
            <a:pPr marL="0" indent="0">
              <a:buNone/>
            </a:pPr>
            <a:r>
              <a:rPr lang="en-IN" sz="3000" dirty="0" err="1"/>
              <a:t>curl_hold_frames</a:t>
            </a:r>
            <a:r>
              <a:rPr lang="en-IN" sz="3000" dirty="0"/>
              <a:t> = 0</a:t>
            </a:r>
          </a:p>
          <a:p>
            <a:pPr marL="0" indent="0">
              <a:buNone/>
            </a:pPr>
            <a:endParaRPr lang="en-IN" sz="3000" dirty="0"/>
          </a:p>
          <a:p>
            <a:pPr marL="0" indent="0">
              <a:buNone/>
            </a:pPr>
            <a:r>
              <a:rPr lang="en-IN" sz="3000" dirty="0"/>
              <a:t># --- </a:t>
            </a:r>
            <a:r>
              <a:rPr lang="en-IN" sz="3000" dirty="0" err="1"/>
              <a:t>Mediapipe</a:t>
            </a:r>
            <a:r>
              <a:rPr lang="en-IN" sz="3000" dirty="0"/>
              <a:t> setup ---</a:t>
            </a:r>
          </a:p>
          <a:p>
            <a:pPr marL="0" indent="0">
              <a:buNone/>
            </a:pPr>
            <a:r>
              <a:rPr lang="en-IN" sz="3000" dirty="0" err="1"/>
              <a:t>mp_drawing</a:t>
            </a:r>
            <a:r>
              <a:rPr lang="en-IN" sz="3000" dirty="0"/>
              <a:t> = </a:t>
            </a:r>
            <a:r>
              <a:rPr lang="en-IN" sz="3000" dirty="0" err="1"/>
              <a:t>mp.solutions.drawing_utils</a:t>
            </a:r>
            <a:endParaRPr lang="en-IN" sz="3000" dirty="0"/>
          </a:p>
          <a:p>
            <a:pPr marL="0" indent="0">
              <a:buNone/>
            </a:pPr>
            <a:r>
              <a:rPr lang="en-IN" sz="3000" dirty="0" err="1"/>
              <a:t>mp_pose</a:t>
            </a:r>
            <a:r>
              <a:rPr lang="en-IN" sz="3000" dirty="0"/>
              <a:t> = </a:t>
            </a:r>
            <a:r>
              <a:rPr lang="en-IN" sz="3000" dirty="0" err="1"/>
              <a:t>mp.solutions.pose</a:t>
            </a:r>
            <a:endParaRPr lang="en-IN" sz="3000" dirty="0"/>
          </a:p>
          <a:p>
            <a:pPr marL="0" indent="0">
              <a:buNone/>
            </a:pPr>
            <a:r>
              <a:rPr lang="en-IN" sz="3000" dirty="0"/>
              <a:t>pose = </a:t>
            </a:r>
            <a:r>
              <a:rPr lang="en-IN" sz="3000" dirty="0" err="1"/>
              <a:t>mp_pose.Pose</a:t>
            </a:r>
            <a:r>
              <a:rPr lang="en-IN" sz="3000" dirty="0"/>
              <a:t>()</a:t>
            </a:r>
          </a:p>
          <a:p>
            <a:pPr marL="0" indent="0">
              <a:buNone/>
            </a:pPr>
            <a:endParaRPr lang="en-IN" sz="3000" dirty="0"/>
          </a:p>
          <a:p>
            <a:pPr marL="0" indent="0">
              <a:buNone/>
            </a:pPr>
            <a:r>
              <a:rPr lang="en-IN" sz="3000" dirty="0"/>
              <a:t># --- Prepare CSV ---</a:t>
            </a:r>
          </a:p>
          <a:p>
            <a:pPr marL="0" indent="0">
              <a:buNone/>
            </a:pPr>
            <a:r>
              <a:rPr lang="en-IN" sz="3000" dirty="0"/>
              <a:t>if not </a:t>
            </a:r>
            <a:r>
              <a:rPr lang="en-IN" sz="3000" dirty="0" err="1"/>
              <a:t>os.path.exists</a:t>
            </a:r>
            <a:r>
              <a:rPr lang="en-IN" sz="3000" dirty="0"/>
              <a:t>(CSV_FILE):</a:t>
            </a:r>
          </a:p>
          <a:p>
            <a:pPr marL="0" indent="0">
              <a:buNone/>
            </a:pPr>
            <a:r>
              <a:rPr lang="en-IN" sz="3000" dirty="0"/>
              <a:t>    </a:t>
            </a:r>
            <a:r>
              <a:rPr lang="en-IN" sz="3000" dirty="0" err="1"/>
              <a:t>pd.DataFrame</a:t>
            </a:r>
            <a:r>
              <a:rPr lang="en-IN" sz="3000" dirty="0"/>
              <a:t>(columns=["timestamp", "squat", "curls", "calories"]).</a:t>
            </a:r>
            <a:r>
              <a:rPr lang="en-IN" sz="3000" dirty="0" err="1"/>
              <a:t>to_csv</a:t>
            </a:r>
            <a:r>
              <a:rPr lang="en-IN" sz="3000" dirty="0"/>
              <a:t>(CSV_FILE, index=False)</a:t>
            </a:r>
          </a:p>
          <a:p>
            <a:pPr marL="0" indent="0">
              <a:buNone/>
            </a:pPr>
            <a:endParaRPr lang="en-IN" sz="3000" dirty="0"/>
          </a:p>
          <a:p>
            <a:pPr marL="0" indent="0">
              <a:buNone/>
            </a:pPr>
            <a:r>
              <a:rPr lang="en-IN" sz="3000" dirty="0"/>
              <a:t>def </a:t>
            </a:r>
            <a:r>
              <a:rPr lang="en-IN" sz="3000" dirty="0" err="1"/>
              <a:t>calculate_angle</a:t>
            </a:r>
            <a:r>
              <a:rPr lang="en-IN" sz="3000" dirty="0"/>
              <a:t>(a, b, c):</a:t>
            </a:r>
          </a:p>
          <a:p>
            <a:pPr marL="0" indent="0">
              <a:buNone/>
            </a:pPr>
            <a:r>
              <a:rPr lang="en-IN" sz="3000" dirty="0"/>
              <a:t>    a, b, c = </a:t>
            </a:r>
            <a:r>
              <a:rPr lang="en-IN" sz="3000" dirty="0" err="1"/>
              <a:t>np.array</a:t>
            </a:r>
            <a:r>
              <a:rPr lang="en-IN" sz="3000" dirty="0"/>
              <a:t>(a), </a:t>
            </a:r>
            <a:r>
              <a:rPr lang="en-IN" sz="3000" dirty="0" err="1"/>
              <a:t>np.array</a:t>
            </a:r>
            <a:r>
              <a:rPr lang="en-IN" sz="3000" dirty="0"/>
              <a:t>(b), </a:t>
            </a:r>
            <a:r>
              <a:rPr lang="en-IN" sz="3000" dirty="0" err="1"/>
              <a:t>np.array</a:t>
            </a:r>
            <a:r>
              <a:rPr lang="en-IN" sz="3000" dirty="0"/>
              <a:t>(c)</a:t>
            </a:r>
          </a:p>
          <a:p>
            <a:pPr marL="0" indent="0">
              <a:buNone/>
            </a:pPr>
            <a:r>
              <a:rPr lang="en-IN" sz="3000" dirty="0"/>
              <a:t>    radians = np.arctan2(c[1]-b[1], c[0]-b[0]) - np.arctan2(a[1]-b[1], a[0]-b[0])</a:t>
            </a:r>
          </a:p>
          <a:p>
            <a:pPr marL="0" indent="0">
              <a:buNone/>
            </a:pPr>
            <a:r>
              <a:rPr lang="en-IN" sz="3000" dirty="0"/>
              <a:t>    angle = </a:t>
            </a:r>
            <a:r>
              <a:rPr lang="en-IN" sz="3000" dirty="0" err="1"/>
              <a:t>np.abs</a:t>
            </a:r>
            <a:r>
              <a:rPr lang="en-IN" sz="3000" dirty="0"/>
              <a:t>(radians * 180.0 / </a:t>
            </a:r>
            <a:r>
              <a:rPr lang="en-IN" sz="3000" dirty="0" err="1"/>
              <a:t>np.pi</a:t>
            </a:r>
            <a:r>
              <a:rPr lang="en-IN" sz="3000" dirty="0"/>
              <a:t>)</a:t>
            </a:r>
          </a:p>
          <a:p>
            <a:pPr marL="0" indent="0">
              <a:buNone/>
            </a:pPr>
            <a:r>
              <a:rPr lang="en-IN" sz="3000" dirty="0"/>
              <a:t>    return 360 - angle if angle &gt; 180 else angle</a:t>
            </a:r>
          </a:p>
          <a:p>
            <a:pPr marL="0" indent="0">
              <a:buNone/>
            </a:pPr>
            <a:endParaRPr lang="en-IN" sz="3000" dirty="0"/>
          </a:p>
          <a:p>
            <a:pPr marL="0" indent="0">
              <a:buNone/>
            </a:pPr>
            <a:r>
              <a:rPr lang="en-IN" sz="3000" dirty="0"/>
              <a:t>def </a:t>
            </a:r>
            <a:r>
              <a:rPr lang="en-IN" sz="3000" dirty="0" err="1"/>
              <a:t>calculate_calories</a:t>
            </a:r>
            <a:r>
              <a:rPr lang="en-IN" sz="3000" dirty="0"/>
              <a:t>(squats, curls):</a:t>
            </a:r>
          </a:p>
          <a:p>
            <a:pPr marL="0" indent="0">
              <a:buNone/>
            </a:pPr>
            <a:r>
              <a:rPr lang="en-IN" sz="3000" dirty="0"/>
              <a:t>    </a:t>
            </a:r>
            <a:r>
              <a:rPr lang="en-IN" sz="3000" dirty="0" err="1"/>
              <a:t>squat_met</a:t>
            </a:r>
            <a:r>
              <a:rPr lang="en-IN" sz="3000" dirty="0"/>
              <a:t> = 5.0</a:t>
            </a:r>
          </a:p>
          <a:p>
            <a:pPr marL="0" indent="0">
              <a:buNone/>
            </a:pPr>
            <a:r>
              <a:rPr lang="en-IN" sz="3000" dirty="0"/>
              <a:t>    </a:t>
            </a:r>
            <a:r>
              <a:rPr lang="en-IN" sz="3000" dirty="0" err="1"/>
              <a:t>curl_met</a:t>
            </a:r>
            <a:r>
              <a:rPr lang="en-IN" sz="3000" dirty="0"/>
              <a:t> = 3.5</a:t>
            </a:r>
          </a:p>
          <a:p>
            <a:pPr marL="0" indent="0">
              <a:buNone/>
            </a:pPr>
            <a:r>
              <a:rPr lang="en-IN" sz="3000" dirty="0"/>
              <a:t>    </a:t>
            </a:r>
            <a:r>
              <a:rPr lang="en-IN" sz="3000" dirty="0" err="1"/>
              <a:t>time_min</a:t>
            </a:r>
            <a:r>
              <a:rPr lang="en-IN" sz="3000" dirty="0"/>
              <a:t> = 1</a:t>
            </a:r>
          </a:p>
          <a:p>
            <a:pPr marL="0" indent="0">
              <a:buNone/>
            </a:pPr>
            <a:r>
              <a:rPr lang="en-IN" sz="3000" dirty="0"/>
              <a:t>    </a:t>
            </a:r>
            <a:r>
              <a:rPr lang="en-IN" sz="3000" dirty="0" err="1"/>
              <a:t>cal</a:t>
            </a:r>
            <a:r>
              <a:rPr lang="en-IN" sz="3000" dirty="0"/>
              <a:t> = ((</a:t>
            </a:r>
            <a:r>
              <a:rPr lang="en-IN" sz="3000" dirty="0" err="1"/>
              <a:t>squat_met</a:t>
            </a:r>
            <a:r>
              <a:rPr lang="en-IN" sz="3000" dirty="0"/>
              <a:t> * PERSON_WEIGHT_KG * 3.5) / 200) * </a:t>
            </a:r>
            <a:r>
              <a:rPr lang="en-IN" sz="3000" dirty="0" err="1"/>
              <a:t>time_min</a:t>
            </a:r>
            <a:r>
              <a:rPr lang="en-IN" sz="3000" dirty="0"/>
              <a:t> * squats</a:t>
            </a:r>
          </a:p>
          <a:p>
            <a:pPr marL="0" indent="0">
              <a:buNone/>
            </a:pPr>
            <a:r>
              <a:rPr lang="en-IN" sz="3000" dirty="0"/>
              <a:t>    </a:t>
            </a:r>
            <a:r>
              <a:rPr lang="en-IN" sz="3000" dirty="0" err="1"/>
              <a:t>cal</a:t>
            </a:r>
            <a:r>
              <a:rPr lang="en-IN" sz="3000" dirty="0"/>
              <a:t> += ((</a:t>
            </a:r>
            <a:r>
              <a:rPr lang="en-IN" sz="3000" dirty="0" err="1"/>
              <a:t>curl_met</a:t>
            </a:r>
            <a:r>
              <a:rPr lang="en-IN" sz="3000" dirty="0"/>
              <a:t> * PERSON_WEIGHT_KG * 3.5) / 200) * </a:t>
            </a:r>
            <a:r>
              <a:rPr lang="en-IN" sz="3000" dirty="0" err="1"/>
              <a:t>time_min</a:t>
            </a:r>
            <a:r>
              <a:rPr lang="en-IN" sz="3000" dirty="0"/>
              <a:t> * curls</a:t>
            </a:r>
          </a:p>
          <a:p>
            <a:pPr marL="0" indent="0">
              <a:buNone/>
            </a:pPr>
            <a:r>
              <a:rPr lang="en-IN" sz="3000" dirty="0"/>
              <a:t>    return round(</a:t>
            </a:r>
            <a:r>
              <a:rPr lang="en-IN" sz="3000" dirty="0" err="1"/>
              <a:t>cal</a:t>
            </a:r>
            <a:r>
              <a:rPr lang="en-IN" sz="3000" dirty="0"/>
              <a:t>, 2)</a:t>
            </a:r>
          </a:p>
          <a:p>
            <a:endParaRPr lang="en-IN" dirty="0"/>
          </a:p>
          <a:p>
            <a:endParaRPr lang="en-IN" dirty="0"/>
          </a:p>
          <a:p>
            <a:endParaRPr lang="en-IN" dirty="0"/>
          </a:p>
        </p:txBody>
      </p:sp>
      <p:sp>
        <p:nvSpPr>
          <p:cNvPr id="4" name="Footer Placeholder 3">
            <a:extLst>
              <a:ext uri="{FF2B5EF4-FFF2-40B4-BE49-F238E27FC236}">
                <a16:creationId xmlns:a16="http://schemas.microsoft.com/office/drawing/2014/main" id="{B0B1A701-1E62-F744-3AEE-48C9DB67A8ED}"/>
              </a:ext>
            </a:extLst>
          </p:cNvPr>
          <p:cNvSpPr>
            <a:spLocks noGrp="1"/>
          </p:cNvSpPr>
          <p:nvPr>
            <p:ph type="ftr" sz="quarter" idx="11"/>
          </p:nvPr>
        </p:nvSpPr>
        <p:spPr>
          <a:xfrm>
            <a:off x="2743200" y="6324600"/>
            <a:ext cx="3886200" cy="365125"/>
          </a:xfrm>
        </p:spPr>
        <p:txBody>
          <a:bodyPr/>
          <a:lstStyle/>
          <a:p>
            <a:r>
              <a:rPr lang="en-US" dirty="0"/>
              <a:t>DEPARTMENT OF COMPUTER SCIENCE AND ENGINEERING </a:t>
            </a:r>
          </a:p>
        </p:txBody>
      </p:sp>
    </p:spTree>
    <p:extLst>
      <p:ext uri="{BB962C8B-B14F-4D97-AF65-F5344CB8AC3E}">
        <p14:creationId xmlns:p14="http://schemas.microsoft.com/office/powerpoint/2010/main" val="2968197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E7BBA-CFDE-6B69-955E-0E3ECFA8E886}"/>
              </a:ext>
            </a:extLst>
          </p:cNvPr>
          <p:cNvSpPr>
            <a:spLocks noGrp="1"/>
          </p:cNvSpPr>
          <p:nvPr>
            <p:ph type="title"/>
          </p:nvPr>
        </p:nvSpPr>
        <p:spPr>
          <a:xfrm>
            <a:off x="457199" y="99654"/>
            <a:ext cx="8229600" cy="1143000"/>
          </a:xfrm>
        </p:spPr>
        <p:txBody>
          <a:bodyPr/>
          <a:lstStyle/>
          <a:p>
            <a:r>
              <a:rPr lang="en-IN" dirty="0"/>
              <a:t>Result And Discussion</a:t>
            </a:r>
          </a:p>
        </p:txBody>
      </p:sp>
      <p:sp>
        <p:nvSpPr>
          <p:cNvPr id="4" name="Footer Placeholder 3">
            <a:extLst>
              <a:ext uri="{FF2B5EF4-FFF2-40B4-BE49-F238E27FC236}">
                <a16:creationId xmlns:a16="http://schemas.microsoft.com/office/drawing/2014/main" id="{F20C152C-DF4D-A39D-2867-8A7C40EC3097}"/>
              </a:ext>
            </a:extLst>
          </p:cNvPr>
          <p:cNvSpPr>
            <a:spLocks noGrp="1"/>
          </p:cNvSpPr>
          <p:nvPr>
            <p:ph type="ftr" sz="quarter" idx="11"/>
          </p:nvPr>
        </p:nvSpPr>
        <p:spPr>
          <a:xfrm>
            <a:off x="2514597" y="6426513"/>
            <a:ext cx="4114802" cy="365125"/>
          </a:xfrm>
        </p:spPr>
        <p:txBody>
          <a:bodyPr/>
          <a:lstStyle/>
          <a:p>
            <a:r>
              <a:rPr lang="en-US" dirty="0"/>
              <a:t>DEPARTMENT OF COMPUTER SCIENCE AND ENGINEERING</a:t>
            </a:r>
          </a:p>
        </p:txBody>
      </p:sp>
      <p:pic>
        <p:nvPicPr>
          <p:cNvPr id="5" name="Content Placeholder 4">
            <a:extLst>
              <a:ext uri="{FF2B5EF4-FFF2-40B4-BE49-F238E27FC236}">
                <a16:creationId xmlns:a16="http://schemas.microsoft.com/office/drawing/2014/main" id="{7466283E-944F-FF45-5A5F-AAA6F356F71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7862" y="2057163"/>
            <a:ext cx="4217938" cy="2557487"/>
          </a:xfrm>
          <a:prstGeom prst="rect">
            <a:avLst/>
          </a:prstGeom>
          <a:noFill/>
          <a:ln>
            <a:noFill/>
          </a:ln>
        </p:spPr>
      </p:pic>
      <p:pic>
        <p:nvPicPr>
          <p:cNvPr id="6" name="Picture 5">
            <a:extLst>
              <a:ext uri="{FF2B5EF4-FFF2-40B4-BE49-F238E27FC236}">
                <a16:creationId xmlns:a16="http://schemas.microsoft.com/office/drawing/2014/main" id="{DD1A00FC-C1CF-5651-F0BA-DCAAE5F6833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8202" y="2057163"/>
            <a:ext cx="4114802" cy="2557486"/>
          </a:xfrm>
          <a:prstGeom prst="rect">
            <a:avLst/>
          </a:prstGeom>
          <a:noFill/>
          <a:ln>
            <a:noFill/>
          </a:ln>
        </p:spPr>
      </p:pic>
      <p:sp>
        <p:nvSpPr>
          <p:cNvPr id="7" name="TextBox 6">
            <a:extLst>
              <a:ext uri="{FF2B5EF4-FFF2-40B4-BE49-F238E27FC236}">
                <a16:creationId xmlns:a16="http://schemas.microsoft.com/office/drawing/2014/main" id="{38817EFE-36A0-9F55-6C80-1D2927817E75}"/>
              </a:ext>
            </a:extLst>
          </p:cNvPr>
          <p:cNvSpPr txBox="1"/>
          <p:nvPr/>
        </p:nvSpPr>
        <p:spPr>
          <a:xfrm>
            <a:off x="1881724" y="4741245"/>
            <a:ext cx="1010213" cy="276999"/>
          </a:xfrm>
          <a:prstGeom prst="rect">
            <a:avLst/>
          </a:prstGeom>
          <a:noFill/>
        </p:spPr>
        <p:txBody>
          <a:bodyPr wrap="none" rtlCol="0">
            <a:spAutoFit/>
          </a:bodyPr>
          <a:lstStyle/>
          <a:p>
            <a:r>
              <a:rPr lang="en-IN" sz="1200" dirty="0"/>
              <a:t>FIG 1 : INPUT</a:t>
            </a:r>
          </a:p>
        </p:txBody>
      </p:sp>
      <p:sp>
        <p:nvSpPr>
          <p:cNvPr id="8" name="TextBox 7">
            <a:extLst>
              <a:ext uri="{FF2B5EF4-FFF2-40B4-BE49-F238E27FC236}">
                <a16:creationId xmlns:a16="http://schemas.microsoft.com/office/drawing/2014/main" id="{43610397-D708-BB71-C3A7-66E2940CDC1A}"/>
              </a:ext>
            </a:extLst>
          </p:cNvPr>
          <p:cNvSpPr txBox="1"/>
          <p:nvPr/>
        </p:nvSpPr>
        <p:spPr>
          <a:xfrm>
            <a:off x="6019800" y="4732564"/>
            <a:ext cx="1010213" cy="276999"/>
          </a:xfrm>
          <a:prstGeom prst="rect">
            <a:avLst/>
          </a:prstGeom>
          <a:noFill/>
        </p:spPr>
        <p:txBody>
          <a:bodyPr wrap="none" rtlCol="0">
            <a:spAutoFit/>
          </a:bodyPr>
          <a:lstStyle/>
          <a:p>
            <a:r>
              <a:rPr lang="en-IN" sz="1200" dirty="0"/>
              <a:t>FIG 2 : INPUT</a:t>
            </a:r>
          </a:p>
        </p:txBody>
      </p:sp>
    </p:spTree>
    <p:extLst>
      <p:ext uri="{BB962C8B-B14F-4D97-AF65-F5344CB8AC3E}">
        <p14:creationId xmlns:p14="http://schemas.microsoft.com/office/powerpoint/2010/main" val="71405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DD9C1-609C-2DED-7036-AA7FA5911430}"/>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5906096B-6D62-CD95-8A14-724248933207}"/>
              </a:ext>
            </a:extLst>
          </p:cNvPr>
          <p:cNvSpPr>
            <a:spLocks noGrp="1"/>
          </p:cNvSpPr>
          <p:nvPr>
            <p:ph idx="1"/>
          </p:nvPr>
        </p:nvSpPr>
        <p:spPr/>
        <p:txBody>
          <a:bodyPr/>
          <a:lstStyle/>
          <a:p>
            <a:pPr marL="0" indent="0">
              <a:buNone/>
            </a:pPr>
            <a:r>
              <a:rPr lang="en-IN" dirty="0"/>
              <a:t>                                                            </a:t>
            </a:r>
          </a:p>
          <a:p>
            <a:pPr marL="0" indent="0">
              <a:buNone/>
            </a:pPr>
            <a:endParaRPr lang="en-IN" dirty="0"/>
          </a:p>
          <a:p>
            <a:pPr marL="0" indent="0">
              <a:buNone/>
            </a:pPr>
            <a:r>
              <a:rPr lang="en-IN" dirty="0"/>
              <a:t> </a:t>
            </a:r>
          </a:p>
        </p:txBody>
      </p:sp>
      <p:sp>
        <p:nvSpPr>
          <p:cNvPr id="4" name="Footer Placeholder 3">
            <a:extLst>
              <a:ext uri="{FF2B5EF4-FFF2-40B4-BE49-F238E27FC236}">
                <a16:creationId xmlns:a16="http://schemas.microsoft.com/office/drawing/2014/main" id="{81DB07F4-CF69-CE2F-B6BA-D65AAB7C68C0}"/>
              </a:ext>
            </a:extLst>
          </p:cNvPr>
          <p:cNvSpPr>
            <a:spLocks noGrp="1"/>
          </p:cNvSpPr>
          <p:nvPr>
            <p:ph type="ftr" sz="quarter" idx="11"/>
          </p:nvPr>
        </p:nvSpPr>
        <p:spPr>
          <a:xfrm>
            <a:off x="2701087" y="6376132"/>
            <a:ext cx="4114800" cy="365125"/>
          </a:xfrm>
        </p:spPr>
        <p:txBody>
          <a:bodyPr/>
          <a:lstStyle/>
          <a:p>
            <a:r>
              <a:rPr lang="en-US" dirty="0"/>
              <a:t>DEPARTMENT OF COMPUTER SCIENCE AND ENGINEERING</a:t>
            </a:r>
          </a:p>
        </p:txBody>
      </p:sp>
      <p:pic>
        <p:nvPicPr>
          <p:cNvPr id="6" name="Picture 5">
            <a:extLst>
              <a:ext uri="{FF2B5EF4-FFF2-40B4-BE49-F238E27FC236}">
                <a16:creationId xmlns:a16="http://schemas.microsoft.com/office/drawing/2014/main" id="{5956B95D-5E6F-331D-65F6-2C8C34A12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360" y="1242693"/>
            <a:ext cx="3440039" cy="2773362"/>
          </a:xfrm>
          <a:prstGeom prst="rect">
            <a:avLst/>
          </a:prstGeom>
        </p:spPr>
      </p:pic>
      <p:pic>
        <p:nvPicPr>
          <p:cNvPr id="8" name="Picture 7">
            <a:extLst>
              <a:ext uri="{FF2B5EF4-FFF2-40B4-BE49-F238E27FC236}">
                <a16:creationId xmlns:a16="http://schemas.microsoft.com/office/drawing/2014/main" id="{B85FEB6E-4AF4-FF2C-A2D8-E62D264A8C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200" y="1182569"/>
            <a:ext cx="3529440" cy="3063874"/>
          </a:xfrm>
          <a:prstGeom prst="rect">
            <a:avLst/>
          </a:prstGeom>
        </p:spPr>
      </p:pic>
      <p:sp>
        <p:nvSpPr>
          <p:cNvPr id="9" name="TextBox 8">
            <a:extLst>
              <a:ext uri="{FF2B5EF4-FFF2-40B4-BE49-F238E27FC236}">
                <a16:creationId xmlns:a16="http://schemas.microsoft.com/office/drawing/2014/main" id="{D2AE302B-FE3A-805D-896E-A8BC54235DCF}"/>
              </a:ext>
            </a:extLst>
          </p:cNvPr>
          <p:cNvSpPr txBox="1"/>
          <p:nvPr/>
        </p:nvSpPr>
        <p:spPr>
          <a:xfrm>
            <a:off x="928367" y="4107943"/>
            <a:ext cx="2754024" cy="276999"/>
          </a:xfrm>
          <a:prstGeom prst="rect">
            <a:avLst/>
          </a:prstGeom>
          <a:noFill/>
        </p:spPr>
        <p:txBody>
          <a:bodyPr wrap="none" rtlCol="0">
            <a:spAutoFit/>
          </a:bodyPr>
          <a:lstStyle/>
          <a:p>
            <a:r>
              <a:rPr lang="en-IN" sz="1200" dirty="0"/>
              <a:t>FIG 3 : GRAPH OF CURLS REP OVER TIME </a:t>
            </a:r>
          </a:p>
        </p:txBody>
      </p:sp>
      <p:sp>
        <p:nvSpPr>
          <p:cNvPr id="10" name="TextBox 9">
            <a:extLst>
              <a:ext uri="{FF2B5EF4-FFF2-40B4-BE49-F238E27FC236}">
                <a16:creationId xmlns:a16="http://schemas.microsoft.com/office/drawing/2014/main" id="{AA6B15AF-93E9-E32D-3D56-181703634D22}"/>
              </a:ext>
            </a:extLst>
          </p:cNvPr>
          <p:cNvSpPr txBox="1"/>
          <p:nvPr/>
        </p:nvSpPr>
        <p:spPr>
          <a:xfrm>
            <a:off x="5242149" y="4290505"/>
            <a:ext cx="3103542" cy="276999"/>
          </a:xfrm>
          <a:prstGeom prst="rect">
            <a:avLst/>
          </a:prstGeom>
          <a:noFill/>
        </p:spPr>
        <p:txBody>
          <a:bodyPr wrap="none" rtlCol="0">
            <a:spAutoFit/>
          </a:bodyPr>
          <a:lstStyle/>
          <a:p>
            <a:r>
              <a:rPr lang="en-IN" sz="1200" dirty="0"/>
              <a:t>FIG 4 : GRAPH OF SQUATS FOR REP OVER TIME</a:t>
            </a:r>
          </a:p>
        </p:txBody>
      </p:sp>
    </p:spTree>
    <p:extLst>
      <p:ext uri="{BB962C8B-B14F-4D97-AF65-F5344CB8AC3E}">
        <p14:creationId xmlns:p14="http://schemas.microsoft.com/office/powerpoint/2010/main" val="163564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C2B2E-87B7-810F-8126-E1B8F19027F8}"/>
              </a:ext>
            </a:extLst>
          </p:cNvPr>
          <p:cNvSpPr>
            <a:spLocks noGrp="1"/>
          </p:cNvSpPr>
          <p:nvPr>
            <p:ph type="title"/>
          </p:nvPr>
        </p:nvSpPr>
        <p:spPr/>
        <p:txBody>
          <a:bodyPr/>
          <a:lstStyle/>
          <a:p>
            <a:r>
              <a:rPr lang="en-IN" dirty="0"/>
              <a:t> </a:t>
            </a:r>
          </a:p>
        </p:txBody>
      </p:sp>
      <p:pic>
        <p:nvPicPr>
          <p:cNvPr id="6" name="Content Placeholder 5">
            <a:extLst>
              <a:ext uri="{FF2B5EF4-FFF2-40B4-BE49-F238E27FC236}">
                <a16:creationId xmlns:a16="http://schemas.microsoft.com/office/drawing/2014/main" id="{FF8F2F69-620C-6E87-8921-F94380CD02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3711" y="274638"/>
            <a:ext cx="6136578" cy="2382718"/>
          </a:xfrm>
        </p:spPr>
      </p:pic>
      <p:sp>
        <p:nvSpPr>
          <p:cNvPr id="4" name="Footer Placeholder 3">
            <a:extLst>
              <a:ext uri="{FF2B5EF4-FFF2-40B4-BE49-F238E27FC236}">
                <a16:creationId xmlns:a16="http://schemas.microsoft.com/office/drawing/2014/main" id="{894DA0A8-9A1A-9CD5-CC4A-687DB7EC7120}"/>
              </a:ext>
            </a:extLst>
          </p:cNvPr>
          <p:cNvSpPr>
            <a:spLocks noGrp="1"/>
          </p:cNvSpPr>
          <p:nvPr>
            <p:ph type="ftr" sz="quarter" idx="11"/>
          </p:nvPr>
        </p:nvSpPr>
        <p:spPr>
          <a:xfrm>
            <a:off x="2766711" y="6444862"/>
            <a:ext cx="4267200" cy="276999"/>
          </a:xfrm>
        </p:spPr>
        <p:txBody>
          <a:bodyPr/>
          <a:lstStyle/>
          <a:p>
            <a:r>
              <a:rPr lang="en-US" dirty="0"/>
              <a:t>DEPARTMENT OF COMPUTER SCIENCE AND ENGINEERING </a:t>
            </a:r>
          </a:p>
        </p:txBody>
      </p:sp>
      <p:pic>
        <p:nvPicPr>
          <p:cNvPr id="10" name="Picture 9">
            <a:extLst>
              <a:ext uri="{FF2B5EF4-FFF2-40B4-BE49-F238E27FC236}">
                <a16:creationId xmlns:a16="http://schemas.microsoft.com/office/drawing/2014/main" id="{6912A374-4DB2-6FEF-9D11-D91AF4A3C2AD}"/>
              </a:ext>
            </a:extLst>
          </p:cNvPr>
          <p:cNvPicPr>
            <a:picLocks noChangeAspect="1"/>
          </p:cNvPicPr>
          <p:nvPr/>
        </p:nvPicPr>
        <p:blipFill>
          <a:blip r:embed="rId3"/>
          <a:stretch>
            <a:fillRect/>
          </a:stretch>
        </p:blipFill>
        <p:spPr>
          <a:xfrm>
            <a:off x="2438399" y="3070123"/>
            <a:ext cx="4267200" cy="2873502"/>
          </a:xfrm>
          <a:prstGeom prst="rect">
            <a:avLst/>
          </a:prstGeom>
        </p:spPr>
      </p:pic>
      <p:sp>
        <p:nvSpPr>
          <p:cNvPr id="11" name="TextBox 10">
            <a:extLst>
              <a:ext uri="{FF2B5EF4-FFF2-40B4-BE49-F238E27FC236}">
                <a16:creationId xmlns:a16="http://schemas.microsoft.com/office/drawing/2014/main" id="{E67FDCC4-F4A3-D41F-068E-6E11FA91057E}"/>
              </a:ext>
            </a:extLst>
          </p:cNvPr>
          <p:cNvSpPr txBox="1"/>
          <p:nvPr/>
        </p:nvSpPr>
        <p:spPr>
          <a:xfrm>
            <a:off x="3555535" y="5943625"/>
            <a:ext cx="2032929" cy="276999"/>
          </a:xfrm>
          <a:prstGeom prst="rect">
            <a:avLst/>
          </a:prstGeom>
          <a:noFill/>
        </p:spPr>
        <p:txBody>
          <a:bodyPr wrap="none" rtlCol="0">
            <a:spAutoFit/>
          </a:bodyPr>
          <a:lstStyle/>
          <a:p>
            <a:r>
              <a:rPr lang="en-IN" sz="1200" dirty="0"/>
              <a:t>FIG 6 :  CSV FORMAT OUTPUT</a:t>
            </a:r>
          </a:p>
        </p:txBody>
      </p:sp>
      <p:sp>
        <p:nvSpPr>
          <p:cNvPr id="12" name="TextBox 11">
            <a:extLst>
              <a:ext uri="{FF2B5EF4-FFF2-40B4-BE49-F238E27FC236}">
                <a16:creationId xmlns:a16="http://schemas.microsoft.com/office/drawing/2014/main" id="{58C86467-101A-C18C-69BE-33C19CD3F70A}"/>
              </a:ext>
            </a:extLst>
          </p:cNvPr>
          <p:cNvSpPr txBox="1"/>
          <p:nvPr/>
        </p:nvSpPr>
        <p:spPr>
          <a:xfrm>
            <a:off x="4114800" y="2644257"/>
            <a:ext cx="1126527" cy="276999"/>
          </a:xfrm>
          <a:prstGeom prst="rect">
            <a:avLst/>
          </a:prstGeom>
          <a:noFill/>
        </p:spPr>
        <p:txBody>
          <a:bodyPr wrap="none" rtlCol="0">
            <a:spAutoFit/>
          </a:bodyPr>
          <a:lstStyle/>
          <a:p>
            <a:r>
              <a:rPr lang="en-IN" sz="1200" dirty="0"/>
              <a:t>FIG 5: DATASET</a:t>
            </a:r>
          </a:p>
        </p:txBody>
      </p:sp>
    </p:spTree>
    <p:extLst>
      <p:ext uri="{BB962C8B-B14F-4D97-AF65-F5344CB8AC3E}">
        <p14:creationId xmlns:p14="http://schemas.microsoft.com/office/powerpoint/2010/main" val="2435650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F2AD2-6D64-34E7-340C-66EBDDA4300C}"/>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96E3A617-EAA3-C9B9-FA18-2E10F966DFBE}"/>
              </a:ext>
            </a:extLst>
          </p:cNvPr>
          <p:cNvSpPr>
            <a:spLocks noGrp="1"/>
          </p:cNvSpPr>
          <p:nvPr>
            <p:ph idx="1"/>
          </p:nvPr>
        </p:nvSpPr>
        <p:spPr>
          <a:xfrm>
            <a:off x="476865" y="1395515"/>
            <a:ext cx="8382000" cy="4525963"/>
          </a:xfrm>
        </p:spPr>
        <p:txBody>
          <a:bodyPr>
            <a:normAutofit lnSpcReduction="10000"/>
          </a:bodyPr>
          <a:lstStyle/>
          <a:p>
            <a:pPr marL="0" indent="0" algn="just">
              <a:buNone/>
            </a:pPr>
            <a:r>
              <a:rPr lang="en-US" sz="2400" dirty="0"/>
              <a:t>The project successfully demonstrates a real-time exercise tracking system that combines computer vision and machine learning for effective fitness monitoring. By utilizing OpenCV and </a:t>
            </a:r>
            <a:r>
              <a:rPr lang="en-US" sz="2400" dirty="0" err="1"/>
              <a:t>MediaPipe</a:t>
            </a:r>
            <a:r>
              <a:rPr lang="en-US" sz="2400" dirty="0"/>
              <a:t>, the system accurately detects and counts squats and bicep curls based on joint angle calculations. It provides live feedback with calorie estimation, making the workout experience more interactive and informative. Additionally, the system automates workout data logging, generates PDF summary reports, and sends them to the user via email, ensuring seamless record keeping. Overall, this solution proves to be affordable, accessible, and user-friendly, offering a practical alternative to expensive fitness devices and enabling individuals to monitor their workouts effectively at home.</a:t>
            </a:r>
          </a:p>
          <a:p>
            <a:pPr marL="0" indent="0" algn="just">
              <a:buNone/>
            </a:pPr>
            <a:endParaRPr sz="2200" dirty="0"/>
          </a:p>
        </p:txBody>
      </p:sp>
      <p:sp>
        <p:nvSpPr>
          <p:cNvPr id="4" name="Footer Placeholder 3">
            <a:extLst>
              <a:ext uri="{FF2B5EF4-FFF2-40B4-BE49-F238E27FC236}">
                <a16:creationId xmlns:a16="http://schemas.microsoft.com/office/drawing/2014/main" id="{D32A2445-9887-A3DB-6C94-DA0801EF8AD8}"/>
              </a:ext>
            </a:extLst>
          </p:cNvPr>
          <p:cNvSpPr>
            <a:spLocks noGrp="1"/>
          </p:cNvSpPr>
          <p:nvPr>
            <p:ph type="ftr" sz="quarter" idx="11"/>
          </p:nvPr>
        </p:nvSpPr>
        <p:spPr>
          <a:xfrm>
            <a:off x="2209800" y="6400799"/>
            <a:ext cx="5410200" cy="365125"/>
          </a:xfrm>
        </p:spPr>
        <p:txBody>
          <a:bodyPr/>
          <a:lstStyle/>
          <a:p>
            <a:r>
              <a:rPr lang="en-US" dirty="0"/>
              <a:t>DEPARTMENT OF COMPUTER SCIENCE AND ENGINEERING</a:t>
            </a:r>
          </a:p>
        </p:txBody>
      </p:sp>
    </p:spTree>
    <p:extLst>
      <p:ext uri="{BB962C8B-B14F-4D97-AF65-F5344CB8AC3E}">
        <p14:creationId xmlns:p14="http://schemas.microsoft.com/office/powerpoint/2010/main" val="4134050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13AA7-69D5-C6F7-FF8E-B133D7424C73}"/>
              </a:ext>
            </a:extLst>
          </p:cNvPr>
          <p:cNvSpPr>
            <a:spLocks noGrp="1"/>
          </p:cNvSpPr>
          <p:nvPr>
            <p:ph type="title"/>
          </p:nvPr>
        </p:nvSpPr>
        <p:spPr>
          <a:xfrm>
            <a:off x="457200" y="502762"/>
            <a:ext cx="8229600" cy="563562"/>
          </a:xfrm>
        </p:spPr>
        <p:txBody>
          <a:bodyPr>
            <a:normAutofit fontScale="90000"/>
          </a:bodyPr>
          <a:lstStyle/>
          <a:p>
            <a:r>
              <a:rPr lang="en-US" dirty="0"/>
              <a:t>Future Work</a:t>
            </a:r>
            <a:endParaRPr lang="en-IN" dirty="0"/>
          </a:p>
        </p:txBody>
      </p:sp>
      <p:sp>
        <p:nvSpPr>
          <p:cNvPr id="3" name="Content Placeholder 2">
            <a:extLst>
              <a:ext uri="{FF2B5EF4-FFF2-40B4-BE49-F238E27FC236}">
                <a16:creationId xmlns:a16="http://schemas.microsoft.com/office/drawing/2014/main" id="{88338AB6-F6DE-66BF-7DFC-174FCBC8BDF8}"/>
              </a:ext>
            </a:extLst>
          </p:cNvPr>
          <p:cNvSpPr>
            <a:spLocks noGrp="1"/>
          </p:cNvSpPr>
          <p:nvPr>
            <p:ph idx="1"/>
          </p:nvPr>
        </p:nvSpPr>
        <p:spPr>
          <a:xfrm>
            <a:off x="457200" y="1371600"/>
            <a:ext cx="8229600" cy="4876800"/>
          </a:xfrm>
        </p:spPr>
        <p:txBody>
          <a:bodyPr>
            <a:normAutofit fontScale="85000" lnSpcReduction="20000"/>
          </a:bodyPr>
          <a:lstStyle/>
          <a:p>
            <a:pPr marL="0" indent="0">
              <a:buNone/>
            </a:pPr>
            <a:r>
              <a:rPr lang="en-US" sz="2000" dirty="0"/>
              <a:t>• Collect a larger dataset covering multiple exercises (push-ups, lunges, planks, jumping jacks, etc.).</a:t>
            </a:r>
          </a:p>
          <a:p>
            <a:pPr marL="0" indent="0">
              <a:buNone/>
            </a:pPr>
            <a:r>
              <a:rPr lang="en-US" sz="2000" dirty="0"/>
              <a:t>• Ensure dataset diversity in terms of age, gender, body types, and exercise environments.</a:t>
            </a:r>
          </a:p>
          <a:p>
            <a:pPr marL="0" indent="0">
              <a:buNone/>
            </a:pPr>
            <a:r>
              <a:rPr lang="en-US" sz="2000" dirty="0"/>
              <a:t>• Machine Learning Models.</a:t>
            </a:r>
          </a:p>
          <a:p>
            <a:pPr marL="0" indent="0">
              <a:buNone/>
            </a:pPr>
            <a:r>
              <a:rPr lang="en-US" sz="2000" dirty="0"/>
              <a:t>• Replace fixed angle-threshold rules with CNN or LSTM-based models trained on exercise datasets.</a:t>
            </a:r>
          </a:p>
          <a:p>
            <a:pPr marL="0" indent="0">
              <a:buNone/>
            </a:pPr>
            <a:r>
              <a:rPr lang="en-US" sz="2000" dirty="0"/>
              <a:t>• Improve flexibility in recognizing different postures and reduce misclassification errors.</a:t>
            </a:r>
          </a:p>
          <a:p>
            <a:pPr marL="0" indent="0">
              <a:buNone/>
            </a:pPr>
            <a:r>
              <a:rPr lang="en-US" sz="2000" dirty="0"/>
              <a:t>• Pose Quality Feedback</a:t>
            </a:r>
          </a:p>
          <a:p>
            <a:pPr marL="0" indent="0">
              <a:buNone/>
            </a:pPr>
            <a:r>
              <a:rPr lang="en-US" sz="2000" dirty="0"/>
              <a:t>• Add real-time form correction by detecting incorrect postures.</a:t>
            </a:r>
          </a:p>
          <a:p>
            <a:pPr marL="0" indent="0">
              <a:buNone/>
            </a:pPr>
            <a:r>
              <a:rPr lang="en-US" sz="2000" dirty="0"/>
              <a:t>• Provide instant visual/audio guidance, making the system act like a virtual trainer.</a:t>
            </a:r>
          </a:p>
          <a:p>
            <a:pPr marL="0" indent="0">
              <a:buNone/>
            </a:pPr>
            <a:r>
              <a:rPr lang="en-US" sz="2000" dirty="0"/>
              <a:t>• Personalized Calorie Tracking. </a:t>
            </a:r>
          </a:p>
          <a:p>
            <a:pPr marL="0" indent="0">
              <a:buNone/>
            </a:pPr>
            <a:r>
              <a:rPr lang="en-US" sz="2000" dirty="0"/>
              <a:t>• Move beyond generalized MET values by integrating physiological data (heart rate, oxygen consumption, etc.).</a:t>
            </a:r>
          </a:p>
          <a:p>
            <a:pPr marL="0" indent="0">
              <a:buNone/>
            </a:pPr>
            <a:r>
              <a:rPr lang="en-US" sz="2000" dirty="0"/>
              <a:t>• Use wearables (smartwatches, fitness bands) to enhance calorie estimation accuracy.</a:t>
            </a:r>
          </a:p>
          <a:p>
            <a:pPr marL="0" indent="0">
              <a:buNone/>
            </a:pPr>
            <a:r>
              <a:rPr lang="en-US" sz="2000" dirty="0"/>
              <a:t>• Cloud and Mobile Integration	</a:t>
            </a:r>
          </a:p>
          <a:p>
            <a:pPr marL="0" indent="0">
              <a:buNone/>
            </a:pPr>
            <a:r>
              <a:rPr lang="en-US" sz="2000" dirty="0"/>
              <a:t>• Store logs and reports in a cloud database instead of only local CSV/PDF files.</a:t>
            </a:r>
          </a:p>
          <a:p>
            <a:pPr marL="0" indent="0">
              <a:buNone/>
            </a:pPr>
            <a:r>
              <a:rPr lang="en-US" sz="2000" dirty="0"/>
              <a:t>• Build a companion mobile app/web dashboard for long-term progress tracking, goal-setting, and analytics.	</a:t>
            </a:r>
          </a:p>
          <a:p>
            <a:pPr marL="0" indent="0">
              <a:buNone/>
            </a:pPr>
            <a:r>
              <a:rPr lang="en-US" sz="2000" dirty="0"/>
              <a:t>•AI-Generated Workout Plans	</a:t>
            </a:r>
            <a:endParaRPr lang="en-IN" sz="2000" dirty="0"/>
          </a:p>
        </p:txBody>
      </p:sp>
      <p:sp>
        <p:nvSpPr>
          <p:cNvPr id="4" name="Footer Placeholder 3">
            <a:extLst>
              <a:ext uri="{FF2B5EF4-FFF2-40B4-BE49-F238E27FC236}">
                <a16:creationId xmlns:a16="http://schemas.microsoft.com/office/drawing/2014/main" id="{A1AB90A0-B72F-7FEF-CC0F-C1A90073759B}"/>
              </a:ext>
            </a:extLst>
          </p:cNvPr>
          <p:cNvSpPr>
            <a:spLocks noGrp="1"/>
          </p:cNvSpPr>
          <p:nvPr>
            <p:ph type="ftr" sz="quarter" idx="11"/>
          </p:nvPr>
        </p:nvSpPr>
        <p:spPr>
          <a:xfrm>
            <a:off x="2895600" y="6355238"/>
            <a:ext cx="4038600" cy="365125"/>
          </a:xfrm>
        </p:spPr>
        <p:txBody>
          <a:bodyPr/>
          <a:lstStyle/>
          <a:p>
            <a:r>
              <a:rPr lang="en-US" dirty="0"/>
              <a:t>DEPARTMENT OF COMPUTER SCIENCE AND ENGINEERING</a:t>
            </a:r>
          </a:p>
        </p:txBody>
      </p:sp>
    </p:spTree>
    <p:extLst>
      <p:ext uri="{BB962C8B-B14F-4D97-AF65-F5344CB8AC3E}">
        <p14:creationId xmlns:p14="http://schemas.microsoft.com/office/powerpoint/2010/main" val="2669912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References</a:t>
            </a:r>
          </a:p>
        </p:txBody>
      </p:sp>
      <p:sp>
        <p:nvSpPr>
          <p:cNvPr id="3" name="Content Placeholder 2"/>
          <p:cNvSpPr>
            <a:spLocks noGrp="1"/>
          </p:cNvSpPr>
          <p:nvPr>
            <p:ph idx="1"/>
          </p:nvPr>
        </p:nvSpPr>
        <p:spPr>
          <a:xfrm>
            <a:off x="457200" y="1066800"/>
            <a:ext cx="8229600" cy="5059363"/>
          </a:xfrm>
        </p:spPr>
        <p:txBody>
          <a:bodyPr>
            <a:noAutofit/>
          </a:bodyPr>
          <a:lstStyle/>
          <a:p>
            <a:pPr algn="just">
              <a:lnSpc>
                <a:spcPct val="150000"/>
              </a:lnSpc>
            </a:pPr>
            <a:r>
              <a:rPr lang="en-US" sz="1700" dirty="0" err="1">
                <a:latin typeface="Times New Roman" pitchFamily="18" charset="0"/>
                <a:cs typeface="Times New Roman" pitchFamily="18" charset="0"/>
              </a:rPr>
              <a:t>Nagarkoti</a:t>
            </a:r>
            <a:r>
              <a:rPr lang="en-US" sz="1700" dirty="0">
                <a:latin typeface="Times New Roman" pitchFamily="18" charset="0"/>
                <a:cs typeface="Times New Roman" pitchFamily="18" charset="0"/>
              </a:rPr>
              <a:t>, A., et al. (2019). Real-time indoor workout analysis using ML &amp; CV. IJERT.</a:t>
            </a:r>
          </a:p>
          <a:p>
            <a:pPr algn="just">
              <a:lnSpc>
                <a:spcPct val="150000"/>
              </a:lnSpc>
            </a:pPr>
            <a:r>
              <a:rPr lang="en-US" sz="1700" dirty="0">
                <a:latin typeface="Times New Roman" pitchFamily="18" charset="0"/>
                <a:cs typeface="Times New Roman" pitchFamily="18" charset="0"/>
              </a:rPr>
              <a:t>Raza, L., &amp; Van </a:t>
            </a:r>
            <a:r>
              <a:rPr lang="en-US" sz="1700" dirty="0" err="1">
                <a:latin typeface="Times New Roman" pitchFamily="18" charset="0"/>
                <a:cs typeface="Times New Roman" pitchFamily="18" charset="0"/>
              </a:rPr>
              <a:t>Eetvelde</a:t>
            </a:r>
            <a:r>
              <a:rPr lang="en-US" sz="1700" dirty="0">
                <a:latin typeface="Times New Roman" pitchFamily="18" charset="0"/>
                <a:cs typeface="Times New Roman" pitchFamily="18" charset="0"/>
              </a:rPr>
              <a:t>, A. (2021). ML methods in sport injury prediction and prevention: A review.</a:t>
            </a:r>
          </a:p>
          <a:p>
            <a:pPr algn="just">
              <a:lnSpc>
                <a:spcPct val="150000"/>
              </a:lnSpc>
            </a:pPr>
            <a:r>
              <a:rPr lang="en-US" sz="1700" dirty="0">
                <a:latin typeface="Times New Roman" pitchFamily="18" charset="0"/>
                <a:cs typeface="Times New Roman" pitchFamily="18" charset="0"/>
              </a:rPr>
              <a:t>Xi, X., et al. (2024). Enhancing human pose estimation in sports training with spatiotemporal transformer. Alexandria Engineering Journal, Elsevier.</a:t>
            </a:r>
          </a:p>
          <a:p>
            <a:pPr algn="just">
              <a:lnSpc>
                <a:spcPct val="150000"/>
              </a:lnSpc>
            </a:pPr>
            <a:r>
              <a:rPr lang="en-US" sz="1700" dirty="0">
                <a:latin typeface="Times New Roman" pitchFamily="18" charset="0"/>
                <a:cs typeface="Times New Roman" pitchFamily="18" charset="0"/>
              </a:rPr>
              <a:t>Yeh, S. C., &amp; Yang, C. K. (2025). Yoga pose recognition and motion analysis for home fitness. Springer (Signal, Image &amp; Video Processing).</a:t>
            </a:r>
          </a:p>
          <a:p>
            <a:pPr algn="just">
              <a:lnSpc>
                <a:spcPct val="150000"/>
              </a:lnSpc>
            </a:pPr>
            <a:r>
              <a:rPr lang="en-US" sz="1700" dirty="0">
                <a:latin typeface="Times New Roman" pitchFamily="18" charset="0"/>
                <a:cs typeface="Times New Roman" pitchFamily="18" charset="0"/>
              </a:rPr>
              <a:t>Springer Review (2022). CV-based approaches for physical rehabilitation and assessment. Multimedia Systems, Springer. </a:t>
            </a:r>
          </a:p>
          <a:p>
            <a:pPr algn="just">
              <a:lnSpc>
                <a:spcPct val="150000"/>
              </a:lnSpc>
            </a:pPr>
            <a:r>
              <a:rPr lang="en-US" sz="1700" dirty="0"/>
              <a:t>Chen, Z., &amp; Wei, H. (2006). </a:t>
            </a:r>
            <a:r>
              <a:rPr lang="en-US" sz="1700" i="1" dirty="0"/>
              <a:t>Recovering 3D human pose from monocular images</a:t>
            </a:r>
            <a:r>
              <a:rPr lang="en-US" sz="1700" dirty="0"/>
              <a:t>. IEEE TPAMI.</a:t>
            </a:r>
            <a:endParaRPr lang="en-US" sz="17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685800" y="6356351"/>
            <a:ext cx="7620000" cy="273049"/>
          </a:xfrm>
        </p:spPr>
        <p:txBody>
          <a:bodyPr/>
          <a:lstStyle/>
          <a:p>
            <a:r>
              <a:rPr lang="en-US" dirty="0"/>
              <a:t>DEPARTMENT OF COMPUTER SCIENCE AND ENGINEERING</a:t>
            </a:r>
          </a:p>
        </p:txBody>
      </p:sp>
    </p:spTree>
    <p:extLst>
      <p:ext uri="{BB962C8B-B14F-4D97-AF65-F5344CB8AC3E}">
        <p14:creationId xmlns:p14="http://schemas.microsoft.com/office/powerpoint/2010/main" val="755128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A185D-CBD0-7ABB-D39F-D9C348AF6369}"/>
              </a:ext>
            </a:extLst>
          </p:cNvPr>
          <p:cNvSpPr>
            <a:spLocks noGrp="1"/>
          </p:cNvSpPr>
          <p:nvPr>
            <p:ph type="title"/>
          </p:nvPr>
        </p:nvSpPr>
        <p:spPr/>
        <p:txBody>
          <a:bodyPr/>
          <a:lstStyle/>
          <a:p>
            <a:r>
              <a:rPr lang="en-US" dirty="0"/>
              <a:t>OUTCOME</a:t>
            </a:r>
            <a:endParaRPr lang="en-IN" dirty="0"/>
          </a:p>
        </p:txBody>
      </p:sp>
      <p:sp>
        <p:nvSpPr>
          <p:cNvPr id="3" name="Content Placeholder 2">
            <a:extLst>
              <a:ext uri="{FF2B5EF4-FFF2-40B4-BE49-F238E27FC236}">
                <a16:creationId xmlns:a16="http://schemas.microsoft.com/office/drawing/2014/main" id="{AF6725C6-0FFF-429E-9A62-56084326D24E}"/>
              </a:ext>
            </a:extLst>
          </p:cNvPr>
          <p:cNvSpPr>
            <a:spLocks noGrp="1"/>
          </p:cNvSpPr>
          <p:nvPr>
            <p:ph idx="1"/>
          </p:nvPr>
        </p:nvSpPr>
        <p:spPr/>
        <p:txBody>
          <a:bodyPr/>
          <a:lstStyle/>
          <a:p>
            <a:pPr fontAlgn="base"/>
            <a:r>
              <a:rPr lang="en-US" sz="2800" dirty="0"/>
              <a:t>Proof for Paper Submission/Patent Filing</a:t>
            </a:r>
          </a:p>
          <a:p>
            <a:pPr fontAlgn="base"/>
            <a:r>
              <a:rPr lang="en-US" sz="2800" dirty="0"/>
              <a:t>Research Paper</a:t>
            </a:r>
          </a:p>
          <a:p>
            <a:pPr marL="0" indent="0">
              <a:buNone/>
            </a:pPr>
            <a:endParaRPr lang="en-IN" dirty="0"/>
          </a:p>
        </p:txBody>
      </p:sp>
      <p:sp>
        <p:nvSpPr>
          <p:cNvPr id="4" name="Footer Placeholder 3">
            <a:extLst>
              <a:ext uri="{FF2B5EF4-FFF2-40B4-BE49-F238E27FC236}">
                <a16:creationId xmlns:a16="http://schemas.microsoft.com/office/drawing/2014/main" id="{2C76FB3D-9F43-19A2-A11D-40D02696195A}"/>
              </a:ext>
            </a:extLst>
          </p:cNvPr>
          <p:cNvSpPr>
            <a:spLocks noGrp="1"/>
          </p:cNvSpPr>
          <p:nvPr>
            <p:ph type="ftr" sz="quarter" idx="11"/>
          </p:nvPr>
        </p:nvSpPr>
        <p:spPr/>
        <p:txBody>
          <a:bodyPr/>
          <a:lstStyle/>
          <a:p>
            <a:r>
              <a:rPr lang="en-US"/>
              <a:t>DEPARTMENT OF COMPUTER SCIENCE AND ENGINEERING - INTERNET OF THINGS</a:t>
            </a:r>
          </a:p>
        </p:txBody>
      </p:sp>
    </p:spTree>
    <p:extLst>
      <p:ext uri="{BB962C8B-B14F-4D97-AF65-F5344CB8AC3E}">
        <p14:creationId xmlns:p14="http://schemas.microsoft.com/office/powerpoint/2010/main" val="21822181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370</TotalTime>
  <Words>3169</Words>
  <Application>Microsoft Office PowerPoint</Application>
  <PresentationFormat>On-screen Show (4:3)</PresentationFormat>
  <Paragraphs>335</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Arial Unicode MS</vt:lpstr>
      <vt:lpstr>Calibri</vt:lpstr>
      <vt:lpstr>Times New Roman</vt:lpstr>
      <vt:lpstr>Office Theme</vt:lpstr>
      <vt:lpstr>SRM INSTITUTE OF SCIENCE AND TECHNOLOGY Ramapuram , Chennai – 600 089 DEPARTMENT OF COMPUTER SCIENCE AND ENGINEERING</vt:lpstr>
      <vt:lpstr>Agenda(Only for Reference-Modify accordingly) </vt:lpstr>
      <vt:lpstr>ABSTRACT</vt:lpstr>
      <vt:lpstr>Scope and Motivation</vt:lpstr>
      <vt:lpstr>Introduction</vt:lpstr>
      <vt:lpstr>Literature Survey</vt:lpstr>
      <vt:lpstr>Literature Survey</vt:lpstr>
      <vt:lpstr>Problem Statement</vt:lpstr>
      <vt:lpstr>Objective</vt:lpstr>
      <vt:lpstr>METHODOLOGY</vt:lpstr>
      <vt:lpstr>Proposed Work</vt:lpstr>
      <vt:lpstr>Architecture Diagram</vt:lpstr>
      <vt:lpstr>Novel Idea</vt:lpstr>
      <vt:lpstr>Modules</vt:lpstr>
      <vt:lpstr>Modules Description</vt:lpstr>
      <vt:lpstr>Algorithm</vt:lpstr>
      <vt:lpstr>Software and Hardware Requirements</vt:lpstr>
      <vt:lpstr>Implementation</vt:lpstr>
      <vt:lpstr> </vt:lpstr>
      <vt:lpstr>Result And Discussion</vt:lpstr>
      <vt:lpstr> </vt:lpstr>
      <vt:lpstr> </vt:lpstr>
      <vt:lpstr>Conclusion</vt:lpstr>
      <vt:lpstr>Future Work</vt:lpstr>
      <vt:lpstr>References</vt:lpstr>
      <vt:lpstr>OUTCOME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INSTITUTE OF SCIENCE AND TECHNOLOGY Ramapuram Campus , Chennai – 600 089 DEPARTMENT OF COMPUTER SCIENCE AND ENGINEERING</dc:title>
  <dc:creator>DELL</dc:creator>
  <cp:lastModifiedBy>s krithika</cp:lastModifiedBy>
  <cp:revision>26</cp:revision>
  <dcterms:created xsi:type="dcterms:W3CDTF">2023-07-26T03:49:14Z</dcterms:created>
  <dcterms:modified xsi:type="dcterms:W3CDTF">2025-10-31T15:19:15Z</dcterms:modified>
</cp:coreProperties>
</file>